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01" y="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746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latin typeface="Tahoma"/>
                    <a:ea typeface="Tahoma"/>
                    <a:cs typeface="Tahom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OCR confidence</c:v>
                </c:pt>
                <c:pt idx="1">
                  <c:v>Valid words</c:v>
                </c:pt>
                <c:pt idx="2">
                  <c:v>Dictionary match</c:v>
                </c:pt>
                <c:pt idx="3">
                  <c:v>Noise cleanliness</c:v>
                </c:pt>
                <c:pt idx="4">
                  <c:v>Artifact cleanliness</c:v>
                </c:pt>
                <c:pt idx="5">
                  <c:v>Language consistency</c:v>
                </c:pt>
                <c:pt idx="6">
                  <c:v>Structure</c:v>
                </c:pt>
                <c:pt idx="7">
                  <c:v>Symbol cleanliness</c:v>
                </c:pt>
                <c:pt idx="8">
                  <c:v>Density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23.08</c:v>
                </c:pt>
                <c:pt idx="1">
                  <c:v>15.38</c:v>
                </c:pt>
                <c:pt idx="2">
                  <c:v>12.31</c:v>
                </c:pt>
                <c:pt idx="3">
                  <c:v>15.38</c:v>
                </c:pt>
                <c:pt idx="4">
                  <c:v>7.69</c:v>
                </c:pt>
                <c:pt idx="5">
                  <c:v>10.77</c:v>
                </c:pt>
                <c:pt idx="6">
                  <c:v>7.69</c:v>
                </c:pt>
                <c:pt idx="7">
                  <c:v>4.62</c:v>
                </c:pt>
                <c:pt idx="8">
                  <c:v>3.08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D2-48F1-883E-B8B07D75DD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86375215"/>
        <c:axId val="1613408719"/>
      </c:barChart>
      <c:catAx>
        <c:axId val="168637521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Tahoma"/>
                <a:ea typeface="Tahoma"/>
                <a:cs typeface="Tahoma"/>
              </a:defRPr>
            </a:pPr>
            <a:endParaRPr lang="en-US"/>
          </a:p>
        </c:txPr>
        <c:crossAx val="1613408719"/>
        <c:crosses val="autoZero"/>
        <c:auto val="1"/>
        <c:lblAlgn val="ctr"/>
        <c:lblOffset val="100"/>
        <c:noMultiLvlLbl val="0"/>
      </c:catAx>
      <c:valAx>
        <c:axId val="1613408719"/>
        <c:scaling>
          <c:orientation val="minMax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Tahoma"/>
                <a:ea typeface="Tahoma"/>
                <a:cs typeface="Tahoma"/>
              </a:defRPr>
            </a:pPr>
            <a:endParaRPr lang="en-US"/>
          </a:p>
        </c:txPr>
        <c:crossAx val="1686375215"/>
        <c:crosses val="autoZero"/>
        <c:crossBetween val="between"/>
      </c:valAx>
      <c:spPr>
        <a:noFill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prstDash val="solid"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 w="9525" cap="flat" cmpd="sng" algn="ctr">
          <a:noFill/>
          <a:prstDash val="solid"/>
        </a14:hiddenLine>
      </a:ext>
    </a:ex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746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latin typeface="Tahoma"/>
                    <a:ea typeface="Tahoma"/>
                    <a:cs typeface="Tahom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Government</c:v>
                </c:pt>
                <c:pt idx="1">
                  <c:v>Banking</c:v>
                </c:pt>
                <c:pt idx="2">
                  <c:v>Legal</c:v>
                </c:pt>
                <c:pt idx="3">
                  <c:v>UUID PDF</c:v>
                </c:pt>
                <c:pt idx="4">
                  <c:v>Medical</c:v>
                </c:pt>
                <c:pt idx="5">
                  <c:v>Demo scan</c:v>
                </c:pt>
                <c:pt idx="6">
                  <c:v>23BCE5107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97.998400000000004</c:v>
                </c:pt>
                <c:pt idx="1">
                  <c:v>98.231999999999999</c:v>
                </c:pt>
                <c:pt idx="2">
                  <c:v>98.228499999999997</c:v>
                </c:pt>
                <c:pt idx="3">
                  <c:v>97.926000000000002</c:v>
                </c:pt>
                <c:pt idx="4">
                  <c:v>97.926000000000002</c:v>
                </c:pt>
                <c:pt idx="5">
                  <c:v>98.636899999999997</c:v>
                </c:pt>
                <c:pt idx="6">
                  <c:v>91.024000000000001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10-4E33-8CAE-2E69B0968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9859759"/>
        <c:axId val="1613407279"/>
      </c:barChart>
      <c:catAx>
        <c:axId val="178985975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Tahoma"/>
                <a:ea typeface="Tahoma"/>
                <a:cs typeface="Tahoma"/>
              </a:defRPr>
            </a:pPr>
            <a:endParaRPr lang="en-US"/>
          </a:p>
        </c:txPr>
        <c:crossAx val="1613407279"/>
        <c:crosses val="autoZero"/>
        <c:auto val="1"/>
        <c:lblAlgn val="ctr"/>
        <c:lblOffset val="100"/>
        <c:noMultiLvlLbl val="0"/>
      </c:catAx>
      <c:valAx>
        <c:axId val="1613407279"/>
        <c:scaling>
          <c:orientation val="minMax"/>
          <c:max val="100"/>
          <c:min val="88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Tahoma"/>
                <a:ea typeface="Tahoma"/>
                <a:cs typeface="Tahoma"/>
              </a:defRPr>
            </a:pPr>
            <a:endParaRPr lang="en-US"/>
          </a:p>
        </c:txPr>
        <c:crossAx val="1789859759"/>
        <c:crosses val="autoZero"/>
        <c:crossBetween val="between"/>
      </c:valAx>
      <c:spPr>
        <a:noFill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prstDash val="solid"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 w="9525" cap="flat" cmpd="sng" algn="ctr">
          <a:noFill/>
          <a:prstDash val="solid"/>
        </a14:hiddenLine>
      </a:ext>
    </a:ex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1C4DA-1FDC-4EFB-8218-C4B1383EE7C3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01E29-A28B-4B0A-9398-B9888003B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11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Project review cover. Robotics integration is a proposed design; the OCR software pipeline is implemented and tested.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1E29-A28B-4B0A-9398-B9888003BEC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953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E:\Projects\OCR_Proj1\backend\evaluation_config.json and data/evaluations/83b4c9f3-ed5a-4f92-9a47-059552d00d9f/report.json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1E29-A28B-4B0A-9398-B9888003BEC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439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local API run 95c87513-630e-47f2-979d-6864ee489304.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01E29-A28B-4B0A-9398-B9888003BEC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76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F172A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6CE383-1F4A-043F-A9BF-48014FC3B1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A15BC-29D2-FC3D-44F3-634CC7D21F2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B223B-3B1A-1D70-9EC1-E6A6CC21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5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49655"/>
            <a:ext cx="4795520" cy="426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F172A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9750" y="1560646"/>
            <a:ext cx="6243320" cy="447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3E0B48-3413-BCDA-0258-3CA56DC0DB9D}"/>
              </a:ext>
            </a:extLst>
          </p:cNvPr>
          <p:cNvSpPr txBox="1"/>
          <p:nvPr/>
        </p:nvSpPr>
        <p:spPr>
          <a:xfrm>
            <a:off x="609600" y="431800"/>
            <a:ext cx="977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00" b="1">
                <a:solidFill>
                  <a:srgbClr val="349387"/>
                </a:solidFill>
                <a:latin typeface="Tahoma" panose="020B0604030504040204" pitchFamily="34" charset="0"/>
              </a:rPr>
              <a:t>VIT CHENNAI | SCHOOL OF COMPUTER SCIENCE AND ENGINEERING</a:t>
            </a:r>
            <a:endParaRPr lang="en-IN" sz="900" b="1">
              <a:solidFill>
                <a:srgbClr val="349387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86A03-E216-2473-9902-BCB7D155E55A}"/>
              </a:ext>
            </a:extLst>
          </p:cNvPr>
          <p:cNvSpPr txBox="1"/>
          <p:nvPr/>
        </p:nvSpPr>
        <p:spPr>
          <a:xfrm>
            <a:off x="609600" y="1168400"/>
            <a:ext cx="9652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3100" b="1">
                <a:solidFill>
                  <a:srgbClr val="FFFFFF"/>
                </a:solidFill>
                <a:latin typeface="Tahoma" panose="020B0604030504040204" pitchFamily="34" charset="0"/>
              </a:rPr>
              <a:t>CONTEXT-AWARE OCR CORRECTION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4E00E-B026-570D-4122-F59CB6021A3B}"/>
              </a:ext>
            </a:extLst>
          </p:cNvPr>
          <p:cNvSpPr txBox="1"/>
          <p:nvPr/>
        </p:nvSpPr>
        <p:spPr>
          <a:xfrm>
            <a:off x="609600" y="19050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100" b="1">
                <a:solidFill>
                  <a:srgbClr val="C9D8D6"/>
                </a:solidFill>
                <a:latin typeface="Tahoma" panose="020B0604030504040204" pitchFamily="34" charset="0"/>
              </a:rPr>
              <a:t>WITH GRAPH RAG &amp; PROPOSED ROBOTIC SORTING</a:t>
            </a:r>
            <a:endParaRPr lang="en-IN" sz="2100" b="1">
              <a:solidFill>
                <a:srgbClr val="C9D8D6"/>
              </a:solidFill>
              <a:latin typeface="Tahoma" panose="020B060403050404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0A1D10-6609-FBAC-B978-CF0875F69FD1}"/>
              </a:ext>
            </a:extLst>
          </p:cNvPr>
          <p:cNvCxnSpPr/>
          <p:nvPr/>
        </p:nvCxnSpPr>
        <p:spPr>
          <a:xfrm>
            <a:off x="609600" y="2705100"/>
            <a:ext cx="10883900" cy="0"/>
          </a:xfrm>
          <a:prstGeom prst="line">
            <a:avLst/>
          </a:prstGeom>
          <a:ln w="25400">
            <a:solidFill>
              <a:srgbClr val="3493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89D34D-BB29-CF13-50F5-7BF01EE83360}"/>
              </a:ext>
            </a:extLst>
          </p:cNvPr>
          <p:cNvSpPr txBox="1"/>
          <p:nvPr/>
        </p:nvSpPr>
        <p:spPr>
          <a:xfrm>
            <a:off x="609600" y="29972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rgbClr val="E5A124"/>
                </a:solidFill>
                <a:latin typeface="Tahoma" panose="020B0604030504040204" pitchFamily="34" charset="0"/>
              </a:rPr>
              <a:t>Review III | Final-Year CSE Capstone</a:t>
            </a:r>
            <a:endParaRPr lang="en-IN" sz="1400" b="1">
              <a:solidFill>
                <a:srgbClr val="E5A124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50762-A830-C813-5D6B-4D8208D61147}"/>
              </a:ext>
            </a:extLst>
          </p:cNvPr>
          <p:cNvSpPr txBox="1"/>
          <p:nvPr/>
        </p:nvSpPr>
        <p:spPr>
          <a:xfrm>
            <a:off x="609600" y="3835400"/>
            <a:ext cx="5969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Aravind Raghuram T A  |  23BCE1493</a:t>
            </a:r>
          </a:p>
          <a:p>
            <a:pPr algn="l"/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Akshith Srinivas M  |  23BCE5078</a:t>
            </a:r>
          </a:p>
          <a:p>
            <a:pPr algn="l"/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Swaroopa Mangal M  |  23BRS1223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44A27-2182-6CA6-5151-061F72EA465D}"/>
              </a:ext>
            </a:extLst>
          </p:cNvPr>
          <p:cNvSpPr txBox="1"/>
          <p:nvPr/>
        </p:nvSpPr>
        <p:spPr>
          <a:xfrm>
            <a:off x="7302500" y="4013200"/>
            <a:ext cx="406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300">
                <a:solidFill>
                  <a:srgbClr val="C9D8D6"/>
                </a:solidFill>
                <a:latin typeface="Calibri" panose="020F0502020204030204" pitchFamily="34" charset="0"/>
              </a:rPr>
              <a:t>Guide  Dr. Jayaram B</a:t>
            </a:r>
          </a:p>
          <a:p>
            <a:pPr algn="r"/>
            <a:r>
              <a:rPr lang="en-US" sz="1300">
                <a:solidFill>
                  <a:srgbClr val="C9D8D6"/>
                </a:solidFill>
                <a:latin typeface="Calibri" panose="020F0502020204030204" pitchFamily="34" charset="0"/>
              </a:rPr>
              <a:t>Review date  16 September 2026</a:t>
            </a:r>
            <a:endParaRPr lang="en-IN" sz="1300">
              <a:solidFill>
                <a:srgbClr val="C9D8D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ACC22C-9A7D-1B24-BC57-FE68E5352740}"/>
              </a:ext>
            </a:extLst>
          </p:cNvPr>
          <p:cNvSpPr txBox="1"/>
          <p:nvPr/>
        </p:nvSpPr>
        <p:spPr>
          <a:xfrm>
            <a:off x="609600" y="59436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00" b="1">
                <a:solidFill>
                  <a:srgbClr val="349387"/>
                </a:solidFill>
                <a:latin typeface="Tahoma" panose="020B0604030504040204" pitchFamily="34" charset="0"/>
              </a:rPr>
              <a:t>IMPLEMENTED SOFTWARE PIPELINE  -&gt;  PROPOSED PHYSICAL INTEGRATION</a:t>
            </a:r>
            <a:endParaRPr lang="en-IN" sz="900" b="1">
              <a:solidFill>
                <a:srgbClr val="3493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88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1D5E81-7708-EEE8-4B16-F289E6AC547F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PROJECT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CBAB6-F7D0-F617-7074-6AAFD397DCA5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One project, two clearly separated deliverables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27BF9D-F560-DE4F-F4FA-AF0F71AD1850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B6FA381-B528-6F79-4471-02425F831D06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DEFF56-293F-7E1F-99AE-D50574CDC7C9}"/>
              </a:ext>
            </a:extLst>
          </p:cNvPr>
          <p:cNvSpPr/>
          <p:nvPr/>
        </p:nvSpPr>
        <p:spPr>
          <a:xfrm>
            <a:off x="609600" y="1841500"/>
            <a:ext cx="5181600" cy="355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2FE7DA-2F0C-1F5B-FA25-53EB785C214F}"/>
              </a:ext>
            </a:extLst>
          </p:cNvPr>
          <p:cNvSpPr/>
          <p:nvPr/>
        </p:nvSpPr>
        <p:spPr>
          <a:xfrm>
            <a:off x="609600" y="1841500"/>
            <a:ext cx="76200" cy="35560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B80A4D-F183-405F-B432-2F5E861C8E1A}"/>
              </a:ext>
            </a:extLst>
          </p:cNvPr>
          <p:cNvSpPr txBox="1"/>
          <p:nvPr/>
        </p:nvSpPr>
        <p:spPr>
          <a:xfrm>
            <a:off x="838200" y="2019300"/>
            <a:ext cx="4775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IMPLEMENTED AND DEMONSTRATED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FECAB-99C7-66CE-8EE4-1B3E9B8F2D0E}"/>
              </a:ext>
            </a:extLst>
          </p:cNvPr>
          <p:cNvSpPr txBox="1"/>
          <p:nvPr/>
        </p:nvSpPr>
        <p:spPr>
          <a:xfrm>
            <a:off x="838200" y="2298700"/>
            <a:ext cx="474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ContextOCR software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83639-9981-7FDC-487F-77F2E5ECBF21}"/>
              </a:ext>
            </a:extLst>
          </p:cNvPr>
          <p:cNvSpPr txBox="1"/>
          <p:nvPr/>
        </p:nvSpPr>
        <p:spPr>
          <a:xfrm>
            <a:off x="838200" y="2730500"/>
            <a:ext cx="4749800" cy="9694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>
                <a:solidFill>
                  <a:srgbClr val="56686E"/>
                </a:solidFill>
                <a:latin typeface="Calibri" panose="020F0502020204030204" pitchFamily="34" charset="0"/>
              </a:rPr>
              <a:t>15-stage local OCR pipeline</a:t>
            </a:r>
          </a:p>
          <a:p>
            <a:pPr algn="l"/>
            <a:r>
              <a:rPr lang="en-IN" sz="1050">
                <a:solidFill>
                  <a:srgbClr val="56686E"/>
                </a:solidFill>
                <a:latin typeface="Calibri" panose="020F0502020204030204" pitchFamily="34" charset="0"/>
              </a:rPr>
              <a:t>Confidence-aware token selection</a:t>
            </a:r>
          </a:p>
          <a:p>
            <a:pPr algn="l"/>
            <a:r>
              <a:rPr lang="en-IN" sz="1050">
                <a:solidFill>
                  <a:srgbClr val="56686E"/>
                </a:solidFill>
                <a:latin typeface="Calibri" panose="020F0502020204030204" pitchFamily="34" charset="0"/>
              </a:rPr>
              <a:t>BGE-M3 / FAISS evidence retrieval</a:t>
            </a:r>
          </a:p>
          <a:p>
            <a:pPr algn="l"/>
            <a:r>
              <a:rPr lang="en-IN" sz="1050">
                <a:solidFill>
                  <a:srgbClr val="56686E"/>
                </a:solidFill>
                <a:latin typeface="Calibri" panose="020F0502020204030204" pitchFamily="34" charset="0"/>
              </a:rPr>
              <a:t>Knowledge graph + local Qwen selection</a:t>
            </a:r>
          </a:p>
          <a:p>
            <a:pPr algn="l"/>
            <a:r>
              <a:rPr lang="en-IN" sz="1050">
                <a:solidFill>
                  <a:srgbClr val="56686E"/>
                </a:solidFill>
                <a:latin typeface="Calibri" panose="020F0502020204030204" pitchFamily="34" charset="0"/>
              </a:rPr>
              <a:t>Validation and searchable PDF export</a:t>
            </a:r>
          </a:p>
          <a:p>
            <a:pPr algn="l"/>
            <a:r>
              <a:rPr lang="en-IN" sz="1050">
                <a:solidFill>
                  <a:srgbClr val="56686E"/>
                </a:solidFill>
                <a:latin typeface="Calibri" panose="020F0502020204030204" pitchFamily="34" charset="0"/>
              </a:rPr>
              <a:t>Dynamic evaluation dashboard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A1138C-679D-8A10-7316-504C7B2F829F}"/>
              </a:ext>
            </a:extLst>
          </p:cNvPr>
          <p:cNvSpPr/>
          <p:nvPr/>
        </p:nvSpPr>
        <p:spPr>
          <a:xfrm>
            <a:off x="6400800" y="1841500"/>
            <a:ext cx="5181600" cy="355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B4F864-6087-1BD3-958A-3D56203CCE98}"/>
              </a:ext>
            </a:extLst>
          </p:cNvPr>
          <p:cNvSpPr/>
          <p:nvPr/>
        </p:nvSpPr>
        <p:spPr>
          <a:xfrm>
            <a:off x="6400800" y="1841500"/>
            <a:ext cx="76200" cy="35560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0E670-E513-0C72-F44C-5F9884368EA2}"/>
              </a:ext>
            </a:extLst>
          </p:cNvPr>
          <p:cNvSpPr txBox="1"/>
          <p:nvPr/>
        </p:nvSpPr>
        <p:spPr>
          <a:xfrm>
            <a:off x="6629400" y="2019300"/>
            <a:ext cx="4775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DESIGNED FOR NEXT PHASE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3633F8-2664-7FCB-01C0-B7211A22FC2E}"/>
              </a:ext>
            </a:extLst>
          </p:cNvPr>
          <p:cNvSpPr txBox="1"/>
          <p:nvPr/>
        </p:nvSpPr>
        <p:spPr>
          <a:xfrm>
            <a:off x="6629400" y="2298700"/>
            <a:ext cx="474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Robotic sorting extension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C407E9-C33F-ED90-0FAF-EFA58E55CB06}"/>
              </a:ext>
            </a:extLst>
          </p:cNvPr>
          <p:cNvSpPr txBox="1"/>
          <p:nvPr/>
        </p:nvSpPr>
        <p:spPr>
          <a:xfrm>
            <a:off x="6629400" y="2730500"/>
            <a:ext cx="4749800" cy="9694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AI output mapped to physical decisions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NodeMCU-based controller architecture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Sensors, motors and actuator selection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CAD concept and bill of materials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Implementation plan and risk controls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No physical prototype claimed in Review III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B440D-DF24-71B8-4F46-DDD79D8F6304}"/>
              </a:ext>
            </a:extLst>
          </p:cNvPr>
          <p:cNvSpPr txBox="1"/>
          <p:nvPr/>
        </p:nvSpPr>
        <p:spPr>
          <a:xfrm>
            <a:off x="609600" y="57023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E5A124"/>
                </a:solidFill>
                <a:latin typeface="Tahoma" panose="020B0604030504040204" pitchFamily="34" charset="0"/>
              </a:rPr>
              <a:t>Review claim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4F08F1-EE6D-4280-B548-381DEF5DD48A}"/>
              </a:ext>
            </a:extLst>
          </p:cNvPr>
          <p:cNvSpPr txBox="1"/>
          <p:nvPr/>
        </p:nvSpPr>
        <p:spPr>
          <a:xfrm>
            <a:off x="2032000" y="5676900"/>
            <a:ext cx="9550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200" b="1">
                <a:solidFill>
                  <a:srgbClr val="0A1C25"/>
                </a:solidFill>
                <a:latin typeface="Calibri" panose="020F0502020204030204" pitchFamily="34" charset="0"/>
              </a:rPr>
              <a:t>Software is executable and attributable; the robotics subsystem is an engineering proposal supported by CAD and component design.</a:t>
            </a:r>
            <a:endParaRPr lang="en-IN" sz="12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2CB417-A61E-1F7B-BC7C-480E310F5590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137801-CE10-4F5B-5D89-9019357C3131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CE342A-EFF7-0B5A-ACE3-FAA660779D75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247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663400-F299-4FD5-DA03-1A93DF031E04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59B79-2465-FE5F-380D-9446DB813BB7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Why post-OCR correction needs context, evidence and restraint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0CEE3F-AC5E-EC3C-A4B7-FB8AB441558B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D2F4070-F758-6D07-0F3F-3B751C166A2E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9BCB84-F4CB-8221-2C02-B7BC33982D9B}"/>
              </a:ext>
            </a:extLst>
          </p:cNvPr>
          <p:cNvSpPr/>
          <p:nvPr/>
        </p:nvSpPr>
        <p:spPr>
          <a:xfrm>
            <a:off x="609600" y="1841500"/>
            <a:ext cx="33782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82E172-3DF5-BB43-0F6A-DAAE228DD327}"/>
              </a:ext>
            </a:extLst>
          </p:cNvPr>
          <p:cNvSpPr/>
          <p:nvPr/>
        </p:nvSpPr>
        <p:spPr>
          <a:xfrm>
            <a:off x="609600" y="1841500"/>
            <a:ext cx="76200" cy="3175000"/>
          </a:xfrm>
          <a:prstGeom prst="roundRect">
            <a:avLst/>
          </a:prstGeom>
          <a:solidFill>
            <a:srgbClr val="E5A124"/>
          </a:solidFill>
          <a:ln w="10160">
            <a:solidFill>
              <a:srgbClr val="E5A1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D1655-C36E-D089-C1B8-7F6BF8BECB23}"/>
              </a:ext>
            </a:extLst>
          </p:cNvPr>
          <p:cNvSpPr txBox="1"/>
          <p:nvPr/>
        </p:nvSpPr>
        <p:spPr>
          <a:xfrm>
            <a:off x="838200" y="2019300"/>
            <a:ext cx="2971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Tahoma" panose="020B060403050404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5B8E9-E96F-7458-17A7-B0A60682A3B7}"/>
              </a:ext>
            </a:extLst>
          </p:cNvPr>
          <p:cNvSpPr txBox="1"/>
          <p:nvPr/>
        </p:nvSpPr>
        <p:spPr>
          <a:xfrm>
            <a:off x="838200" y="22987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OCR confidence can mislead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94455-3AEB-A399-FD97-25C7D310B38B}"/>
              </a:ext>
            </a:extLst>
          </p:cNvPr>
          <p:cNvSpPr txBox="1"/>
          <p:nvPr/>
        </p:nvSpPr>
        <p:spPr>
          <a:xfrm>
            <a:off x="838200" y="2730500"/>
            <a:ext cx="294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A line may score highly while individual tokens contain substitutions such as govemment or regulatlon.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8307E2-A158-84C3-280E-FB46182709D4}"/>
              </a:ext>
            </a:extLst>
          </p:cNvPr>
          <p:cNvSpPr/>
          <p:nvPr/>
        </p:nvSpPr>
        <p:spPr>
          <a:xfrm>
            <a:off x="4406900" y="1841500"/>
            <a:ext cx="33782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AA002D-66F2-2AB4-2994-4E122C64CD3C}"/>
              </a:ext>
            </a:extLst>
          </p:cNvPr>
          <p:cNvSpPr/>
          <p:nvPr/>
        </p:nvSpPr>
        <p:spPr>
          <a:xfrm>
            <a:off x="4406900" y="1841500"/>
            <a:ext cx="76200" cy="3175000"/>
          </a:xfrm>
          <a:prstGeom prst="roundRect">
            <a:avLst/>
          </a:prstGeom>
          <a:solidFill>
            <a:srgbClr val="BE4A45"/>
          </a:solidFill>
          <a:ln w="10160">
            <a:solidFill>
              <a:srgbClr val="BE4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870374-DC52-E5D4-94ED-A916800085C3}"/>
              </a:ext>
            </a:extLst>
          </p:cNvPr>
          <p:cNvSpPr txBox="1"/>
          <p:nvPr/>
        </p:nvSpPr>
        <p:spPr>
          <a:xfrm>
            <a:off x="4635500" y="2019300"/>
            <a:ext cx="2971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BE4A45"/>
                </a:solidFill>
                <a:latin typeface="Tahoma" panose="020B060403050404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49B91-57EB-9ADB-CD44-E0965E8D69F5}"/>
              </a:ext>
            </a:extLst>
          </p:cNvPr>
          <p:cNvSpPr txBox="1"/>
          <p:nvPr/>
        </p:nvSpPr>
        <p:spPr>
          <a:xfrm>
            <a:off x="4635500" y="22987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Naive correction is risky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90BB9-2165-ACBE-1E54-C91FB055FE91}"/>
              </a:ext>
            </a:extLst>
          </p:cNvPr>
          <p:cNvSpPr txBox="1"/>
          <p:nvPr/>
        </p:nvSpPr>
        <p:spPr>
          <a:xfrm>
            <a:off x="4635500" y="2730500"/>
            <a:ext cx="29464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Whole-document language-model rewriting can change names, numbers and meaning without traceable evidence.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5E888C-92F3-3D16-CF00-EAA7BF38E9C7}"/>
              </a:ext>
            </a:extLst>
          </p:cNvPr>
          <p:cNvSpPr/>
          <p:nvPr/>
        </p:nvSpPr>
        <p:spPr>
          <a:xfrm>
            <a:off x="8204200" y="1841500"/>
            <a:ext cx="3378200" cy="3175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087452-0EAD-3D8B-04EC-CDBE98FC8408}"/>
              </a:ext>
            </a:extLst>
          </p:cNvPr>
          <p:cNvSpPr/>
          <p:nvPr/>
        </p:nvSpPr>
        <p:spPr>
          <a:xfrm>
            <a:off x="8204200" y="1841500"/>
            <a:ext cx="76200" cy="31750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BB7488-D18E-1251-0A6C-D44B77C021AE}"/>
              </a:ext>
            </a:extLst>
          </p:cNvPr>
          <p:cNvSpPr txBox="1"/>
          <p:nvPr/>
        </p:nvSpPr>
        <p:spPr>
          <a:xfrm>
            <a:off x="8432800" y="2019300"/>
            <a:ext cx="2971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8DF268-5F1E-F84A-548B-CD7A1E25B050}"/>
              </a:ext>
            </a:extLst>
          </p:cNvPr>
          <p:cNvSpPr txBox="1"/>
          <p:nvPr/>
        </p:nvSpPr>
        <p:spPr>
          <a:xfrm>
            <a:off x="8432800" y="22987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Outputs must remain usable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6B68E7-7185-3B39-EA81-1A834C4DB6E8}"/>
              </a:ext>
            </a:extLst>
          </p:cNvPr>
          <p:cNvSpPr txBox="1"/>
          <p:nvPr/>
        </p:nvSpPr>
        <p:spPr>
          <a:xfrm>
            <a:off x="8432800" y="2730500"/>
            <a:ext cx="29464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The corrected deliverable must preserve provenance and be searchable, selectable and downloadable as a PDF.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04076B-943A-F21B-E5EF-D69BC83AAA68}"/>
              </a:ext>
            </a:extLst>
          </p:cNvPr>
          <p:cNvSpPr txBox="1"/>
          <p:nvPr/>
        </p:nvSpPr>
        <p:spPr>
          <a:xfrm>
            <a:off x="609600" y="5461000"/>
            <a:ext cx="1968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Engineering question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01E781-5DDB-5510-CFE2-B0D878FC3906}"/>
              </a:ext>
            </a:extLst>
          </p:cNvPr>
          <p:cNvSpPr txBox="1"/>
          <p:nvPr/>
        </p:nvSpPr>
        <p:spPr>
          <a:xfrm>
            <a:off x="2603500" y="5410200"/>
            <a:ext cx="89789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500" b="1">
                <a:solidFill>
                  <a:srgbClr val="0A1C25"/>
                </a:solidFill>
                <a:latin typeface="Tahoma" panose="020B0604030504040204" pitchFamily="34" charset="0"/>
              </a:rPr>
              <a:t>Can a local, selective and evidence-grounded pipeline correct only uncertain tokens while preserving document fidelity?</a:t>
            </a:r>
            <a:endParaRPr lang="en-IN" sz="1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93F43C-B9CE-6C3E-6BF9-D990F5B549CE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CF38E85-C834-E024-BD51-27AEB24BD726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60405A-0758-A4B4-F01D-2984042E311D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743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27E385-3CF6-27A3-55D5-F7D756E4CBE2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REVIEW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48D00-3D34-AECE-3745-E508123DD088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Evidence mapped directly to the Review III rubric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5AC1B-3409-DFB2-89CD-1583BAAE94BA}"/>
              </a:ext>
            </a:extLst>
          </p:cNvPr>
          <p:cNvSpPr txBox="1"/>
          <p:nvPr/>
        </p:nvSpPr>
        <p:spPr>
          <a:xfrm>
            <a:off x="508000" y="11049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100">
                <a:solidFill>
                  <a:srgbClr val="56686E"/>
                </a:solidFill>
                <a:latin typeface="Calibri" panose="020F0502020204030204" pitchFamily="34" charset="0"/>
              </a:rPr>
              <a:t>20 marks | implementation, accuracy, results and presentation</a:t>
            </a:r>
            <a:endParaRPr lang="en-IN" sz="110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A1C025-1EBF-FCF0-E7AF-F45EFA7B7497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6708EB-E5CD-6B10-CCCD-9DE06A646C2A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5AAB73-71F9-D745-2C65-1B94B60B8BCE}"/>
              </a:ext>
            </a:extLst>
          </p:cNvPr>
          <p:cNvSpPr/>
          <p:nvPr/>
        </p:nvSpPr>
        <p:spPr>
          <a:xfrm>
            <a:off x="609600" y="1803400"/>
            <a:ext cx="10972800" cy="78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48EBBA-4371-AB6A-D81B-ECDF09A78DF8}"/>
              </a:ext>
            </a:extLst>
          </p:cNvPr>
          <p:cNvSpPr/>
          <p:nvPr/>
        </p:nvSpPr>
        <p:spPr>
          <a:xfrm>
            <a:off x="609600" y="1803400"/>
            <a:ext cx="101600" cy="7874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FB032-2BF9-E125-962E-DF6E29F58698}"/>
              </a:ext>
            </a:extLst>
          </p:cNvPr>
          <p:cNvSpPr txBox="1"/>
          <p:nvPr/>
        </p:nvSpPr>
        <p:spPr>
          <a:xfrm>
            <a:off x="914400" y="19558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00" b="1">
                <a:solidFill>
                  <a:srgbClr val="1F7469"/>
                </a:solidFill>
                <a:latin typeface="Tahoma" panose="020B0604030504040204" pitchFamily="34" charset="0"/>
              </a:rPr>
              <a:t>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5D946-3108-2480-92D9-19FC553B4E31}"/>
              </a:ext>
            </a:extLst>
          </p:cNvPr>
          <p:cNvSpPr txBox="1"/>
          <p:nvPr/>
        </p:nvSpPr>
        <p:spPr>
          <a:xfrm>
            <a:off x="3810000" y="1930400"/>
            <a:ext cx="622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200" b="1">
                <a:solidFill>
                  <a:srgbClr val="0A1C25"/>
                </a:solidFill>
                <a:latin typeface="Calibri" panose="020F0502020204030204" pitchFamily="34" charset="0"/>
              </a:rPr>
              <a:t>Live 15-stage workflow, local models, selectable PDF output</a:t>
            </a:r>
            <a:endParaRPr lang="en-IN" sz="12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EC706-3447-9882-8AAF-2772317E3ADE}"/>
              </a:ext>
            </a:extLst>
          </p:cNvPr>
          <p:cNvSpPr txBox="1"/>
          <p:nvPr/>
        </p:nvSpPr>
        <p:spPr>
          <a:xfrm>
            <a:off x="10261600" y="20320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56686E"/>
                </a:solidFill>
                <a:latin typeface="Tahoma" panose="020B0604030504040204" pitchFamily="34" charset="0"/>
              </a:rPr>
              <a:t>5 marks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571656-F3F7-184F-C7FD-A4D4D232F4A8}"/>
              </a:ext>
            </a:extLst>
          </p:cNvPr>
          <p:cNvSpPr/>
          <p:nvPr/>
        </p:nvSpPr>
        <p:spPr>
          <a:xfrm>
            <a:off x="609600" y="2794000"/>
            <a:ext cx="10972800" cy="78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2B111-7F3A-ABB4-6107-3037E39D429D}"/>
              </a:ext>
            </a:extLst>
          </p:cNvPr>
          <p:cNvSpPr/>
          <p:nvPr/>
        </p:nvSpPr>
        <p:spPr>
          <a:xfrm>
            <a:off x="609600" y="2794000"/>
            <a:ext cx="101600" cy="7874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6D949-C8C8-6B5A-4279-0969E0DFA8D1}"/>
              </a:ext>
            </a:extLst>
          </p:cNvPr>
          <p:cNvSpPr txBox="1"/>
          <p:nvPr/>
        </p:nvSpPr>
        <p:spPr>
          <a:xfrm>
            <a:off x="914400" y="29464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00" b="1">
                <a:solidFill>
                  <a:srgbClr val="2766C9"/>
                </a:solidFill>
                <a:latin typeface="Tahoma" panose="020B0604030504040204" pitchFamily="34" charset="0"/>
              </a:rPr>
              <a:t>TECHNICAL ACCURACY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98F621-AC67-DF63-F575-066022499647}"/>
              </a:ext>
            </a:extLst>
          </p:cNvPr>
          <p:cNvSpPr txBox="1"/>
          <p:nvPr/>
        </p:nvSpPr>
        <p:spPr>
          <a:xfrm>
            <a:off x="3810000" y="2921000"/>
            <a:ext cx="622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200" b="1">
                <a:solidFill>
                  <a:srgbClr val="0A1C25"/>
                </a:solidFill>
                <a:latin typeface="Calibri" panose="020F0502020204030204" pitchFamily="34" charset="0"/>
              </a:rPr>
              <a:t>Algorithms, thresholds, retrieval method and validation rules</a:t>
            </a:r>
            <a:endParaRPr lang="en-IN" sz="12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AD8F65-4372-6B5E-C951-6A2F81286D1E}"/>
              </a:ext>
            </a:extLst>
          </p:cNvPr>
          <p:cNvSpPr txBox="1"/>
          <p:nvPr/>
        </p:nvSpPr>
        <p:spPr>
          <a:xfrm>
            <a:off x="10261600" y="30226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56686E"/>
                </a:solidFill>
                <a:latin typeface="Tahoma" panose="020B0604030504040204" pitchFamily="34" charset="0"/>
              </a:rPr>
              <a:t>5 marks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EFCCC0E-0AE7-FDD5-45CB-1750132A4E7A}"/>
              </a:ext>
            </a:extLst>
          </p:cNvPr>
          <p:cNvSpPr/>
          <p:nvPr/>
        </p:nvSpPr>
        <p:spPr>
          <a:xfrm>
            <a:off x="609600" y="3784600"/>
            <a:ext cx="10972800" cy="78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57DCDC-0EE7-6797-3CB4-964AE692C73F}"/>
              </a:ext>
            </a:extLst>
          </p:cNvPr>
          <p:cNvSpPr/>
          <p:nvPr/>
        </p:nvSpPr>
        <p:spPr>
          <a:xfrm>
            <a:off x="609600" y="3784600"/>
            <a:ext cx="101600" cy="787400"/>
          </a:xfrm>
          <a:prstGeom prst="roundRect">
            <a:avLst/>
          </a:prstGeom>
          <a:solidFill>
            <a:srgbClr val="E5A124"/>
          </a:solidFill>
          <a:ln w="10160">
            <a:solidFill>
              <a:srgbClr val="E5A1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9F11CF-349E-8E0C-6A8B-9214396EBDEE}"/>
              </a:ext>
            </a:extLst>
          </p:cNvPr>
          <p:cNvSpPr txBox="1"/>
          <p:nvPr/>
        </p:nvSpPr>
        <p:spPr>
          <a:xfrm>
            <a:off x="914400" y="39370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00" b="1">
                <a:solidFill>
                  <a:srgbClr val="E5A124"/>
                </a:solidFill>
                <a:latin typeface="Tahoma" panose="020B0604030504040204" pitchFamily="34" charset="0"/>
              </a:rPr>
              <a:t>RESULTS OBTAINED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3B13B8-A287-76B0-3E25-BAFD10ECB8D2}"/>
              </a:ext>
            </a:extLst>
          </p:cNvPr>
          <p:cNvSpPr txBox="1"/>
          <p:nvPr/>
        </p:nvSpPr>
        <p:spPr>
          <a:xfrm>
            <a:off x="3810000" y="3911600"/>
            <a:ext cx="622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200" b="1">
                <a:solidFill>
                  <a:srgbClr val="0A1C25"/>
                </a:solidFill>
                <a:latin typeface="Calibri" panose="020F0502020204030204" pitchFamily="34" charset="0"/>
              </a:rPr>
              <a:t>Real correction trace, dataset metrics and generated charts</a:t>
            </a:r>
            <a:endParaRPr lang="en-IN" sz="12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854B80-E7A7-06F7-C542-77ECB81502E5}"/>
              </a:ext>
            </a:extLst>
          </p:cNvPr>
          <p:cNvSpPr txBox="1"/>
          <p:nvPr/>
        </p:nvSpPr>
        <p:spPr>
          <a:xfrm>
            <a:off x="10261600" y="40132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56686E"/>
                </a:solidFill>
                <a:latin typeface="Tahoma" panose="020B0604030504040204" pitchFamily="34" charset="0"/>
              </a:rPr>
              <a:t>5 marks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B582C1-A734-481C-2801-3EA948E11F6A}"/>
              </a:ext>
            </a:extLst>
          </p:cNvPr>
          <p:cNvSpPr/>
          <p:nvPr/>
        </p:nvSpPr>
        <p:spPr>
          <a:xfrm>
            <a:off x="609600" y="4775200"/>
            <a:ext cx="10972800" cy="78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135D76-22F8-4255-2825-F2A7CDCC9DFC}"/>
              </a:ext>
            </a:extLst>
          </p:cNvPr>
          <p:cNvSpPr/>
          <p:nvPr/>
        </p:nvSpPr>
        <p:spPr>
          <a:xfrm>
            <a:off x="609600" y="4775200"/>
            <a:ext cx="101600" cy="787400"/>
          </a:xfrm>
          <a:prstGeom prst="roundRect">
            <a:avLst/>
          </a:prstGeom>
          <a:solidFill>
            <a:srgbClr val="BE4A45"/>
          </a:solidFill>
          <a:ln w="10160">
            <a:solidFill>
              <a:srgbClr val="BE4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AF8617-FC93-35D6-CEDC-2E1287B4323F}"/>
              </a:ext>
            </a:extLst>
          </p:cNvPr>
          <p:cNvSpPr txBox="1"/>
          <p:nvPr/>
        </p:nvSpPr>
        <p:spPr>
          <a:xfrm>
            <a:off x="914400" y="49276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00" b="1">
                <a:solidFill>
                  <a:srgbClr val="BE4A45"/>
                </a:solidFill>
                <a:latin typeface="Tahoma" panose="020B0604030504040204" pitchFamily="34" charset="0"/>
              </a:rPr>
              <a:t>PRESENTATION AND CLARITY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980F95-B83E-B8DB-1F3B-DA1985CFAC85}"/>
              </a:ext>
            </a:extLst>
          </p:cNvPr>
          <p:cNvSpPr txBox="1"/>
          <p:nvPr/>
        </p:nvSpPr>
        <p:spPr>
          <a:xfrm>
            <a:off x="3810000" y="4902200"/>
            <a:ext cx="622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200" b="1">
                <a:solidFill>
                  <a:srgbClr val="0A1C25"/>
                </a:solidFill>
                <a:latin typeface="Calibri" panose="020F0502020204030204" pitchFamily="34" charset="0"/>
              </a:rPr>
              <a:t>Implemented/proposed boundary, limitations and next steps</a:t>
            </a:r>
            <a:endParaRPr lang="en-IN" sz="12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31B7DD-3E40-1AD1-0703-2A38F8EF8A20}"/>
              </a:ext>
            </a:extLst>
          </p:cNvPr>
          <p:cNvSpPr txBox="1"/>
          <p:nvPr/>
        </p:nvSpPr>
        <p:spPr>
          <a:xfrm>
            <a:off x="10261600" y="50038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56686E"/>
                </a:solidFill>
                <a:latin typeface="Tahoma" panose="020B0604030504040204" pitchFamily="34" charset="0"/>
              </a:rPr>
              <a:t>5 marks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58D196-0DF4-2D40-5BCF-671200D74ECA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21E6C7B-1A3D-89E6-6903-5276D4D650ED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3EC1FC-4009-7F0D-03E8-C1FF692C8922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22616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FC8BC-705B-EC8D-E5B6-700E4D91C017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IMPLEMENTED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AE665-34DC-5E79-437E-14B1DAF4F8C5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Local-first software system with evidence-preserving stages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784772-07FC-F884-D25F-421DB6B15148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4AED1D5-4CD4-2BDC-3321-5129C644023B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4B54D2-7257-D653-810E-CFB6F56B9E93}"/>
              </a:ext>
            </a:extLst>
          </p:cNvPr>
          <p:cNvSpPr/>
          <p:nvPr/>
        </p:nvSpPr>
        <p:spPr>
          <a:xfrm>
            <a:off x="482600" y="2159000"/>
            <a:ext cx="1905000" cy="180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60E8E-A79F-FD62-6E05-630824C6E402}"/>
              </a:ext>
            </a:extLst>
          </p:cNvPr>
          <p:cNvSpPr txBox="1"/>
          <p:nvPr/>
        </p:nvSpPr>
        <p:spPr>
          <a:xfrm>
            <a:off x="635000" y="2387600"/>
            <a:ext cx="1600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46FB5-977D-2BDD-A353-FA5D77A34B16}"/>
              </a:ext>
            </a:extLst>
          </p:cNvPr>
          <p:cNvSpPr txBox="1"/>
          <p:nvPr/>
        </p:nvSpPr>
        <p:spPr>
          <a:xfrm>
            <a:off x="635000" y="2806700"/>
            <a:ext cx="1600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300" b="1">
                <a:solidFill>
                  <a:srgbClr val="0A1C25"/>
                </a:solidFill>
                <a:latin typeface="Calibri" panose="020F0502020204030204" pitchFamily="34" charset="0"/>
              </a:rPr>
              <a:t>PDF / image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0A25E4-0FB2-9FEB-641F-AED95AB69B8D}"/>
              </a:ext>
            </a:extLst>
          </p:cNvPr>
          <p:cNvCxnSpPr/>
          <p:nvPr/>
        </p:nvCxnSpPr>
        <p:spPr>
          <a:xfrm>
            <a:off x="2400300" y="3060700"/>
            <a:ext cx="330200" cy="0"/>
          </a:xfrm>
          <a:prstGeom prst="line">
            <a:avLst/>
          </a:prstGeom>
          <a:ln w="19050">
            <a:solidFill>
              <a:srgbClr val="5668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2C7E0D-ECED-280E-A313-B5503F9C0BD9}"/>
              </a:ext>
            </a:extLst>
          </p:cNvPr>
          <p:cNvSpPr/>
          <p:nvPr/>
        </p:nvSpPr>
        <p:spPr>
          <a:xfrm>
            <a:off x="2781300" y="2159000"/>
            <a:ext cx="1905000" cy="180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7AC54-DBB7-3D65-6B5F-A1CF3F81D81A}"/>
              </a:ext>
            </a:extLst>
          </p:cNvPr>
          <p:cNvSpPr txBox="1"/>
          <p:nvPr/>
        </p:nvSpPr>
        <p:spPr>
          <a:xfrm>
            <a:off x="2933700" y="2387600"/>
            <a:ext cx="1600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PERCEPTION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0DC2F5-D322-636F-5A3D-84FF5BD8F2B5}"/>
              </a:ext>
            </a:extLst>
          </p:cNvPr>
          <p:cNvSpPr txBox="1"/>
          <p:nvPr/>
        </p:nvSpPr>
        <p:spPr>
          <a:xfrm>
            <a:off x="2933700" y="2806700"/>
            <a:ext cx="1600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300" b="1">
                <a:solidFill>
                  <a:srgbClr val="0A1C25"/>
                </a:solidFill>
                <a:latin typeface="Calibri" panose="020F0502020204030204" pitchFamily="34" charset="0"/>
              </a:rPr>
              <a:t>Preprocess + layout + OCR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4CD6EF-1A73-7BB9-3EFC-E53707BCAAD9}"/>
              </a:ext>
            </a:extLst>
          </p:cNvPr>
          <p:cNvCxnSpPr/>
          <p:nvPr/>
        </p:nvCxnSpPr>
        <p:spPr>
          <a:xfrm>
            <a:off x="4699000" y="3060700"/>
            <a:ext cx="330200" cy="0"/>
          </a:xfrm>
          <a:prstGeom prst="line">
            <a:avLst/>
          </a:prstGeom>
          <a:ln w="19050">
            <a:solidFill>
              <a:srgbClr val="5668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40AB8C-48AC-81FE-E877-0989AE80C799}"/>
              </a:ext>
            </a:extLst>
          </p:cNvPr>
          <p:cNvSpPr/>
          <p:nvPr/>
        </p:nvSpPr>
        <p:spPr>
          <a:xfrm>
            <a:off x="5080000" y="2159000"/>
            <a:ext cx="1905000" cy="180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A2FC6C-F466-7EBF-1B49-D30AFCF89D8D}"/>
              </a:ext>
            </a:extLst>
          </p:cNvPr>
          <p:cNvSpPr txBox="1"/>
          <p:nvPr/>
        </p:nvSpPr>
        <p:spPr>
          <a:xfrm>
            <a:off x="5232400" y="2387600"/>
            <a:ext cx="1600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Tahoma" panose="020B0604030504040204" pitchFamily="34" charset="0"/>
              </a:rPr>
              <a:t>REASONING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9F5C2-5AC4-6164-99CD-3B6EE1EAF742}"/>
              </a:ext>
            </a:extLst>
          </p:cNvPr>
          <p:cNvSpPr txBox="1"/>
          <p:nvPr/>
        </p:nvSpPr>
        <p:spPr>
          <a:xfrm>
            <a:off x="5232400" y="2806700"/>
            <a:ext cx="1600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300" b="1">
                <a:solidFill>
                  <a:srgbClr val="0A1C25"/>
                </a:solidFill>
                <a:latin typeface="Calibri" panose="020F0502020204030204" pitchFamily="34" charset="0"/>
              </a:rPr>
              <a:t>Confidence + candidates + GraphRAG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D4BA2C-BF68-D4A3-A3C6-0CA669A03DB3}"/>
              </a:ext>
            </a:extLst>
          </p:cNvPr>
          <p:cNvCxnSpPr/>
          <p:nvPr/>
        </p:nvCxnSpPr>
        <p:spPr>
          <a:xfrm>
            <a:off x="6997700" y="3060700"/>
            <a:ext cx="330200" cy="0"/>
          </a:xfrm>
          <a:prstGeom prst="line">
            <a:avLst/>
          </a:prstGeom>
          <a:ln w="19050">
            <a:solidFill>
              <a:srgbClr val="5668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2279E4E-25DB-6797-B017-1A318D2F1C8A}"/>
              </a:ext>
            </a:extLst>
          </p:cNvPr>
          <p:cNvSpPr/>
          <p:nvPr/>
        </p:nvSpPr>
        <p:spPr>
          <a:xfrm>
            <a:off x="7378700" y="2159000"/>
            <a:ext cx="1905000" cy="180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F4C00-E97C-011B-E9FE-9189044478E5}"/>
              </a:ext>
            </a:extLst>
          </p:cNvPr>
          <p:cNvSpPr txBox="1"/>
          <p:nvPr/>
        </p:nvSpPr>
        <p:spPr>
          <a:xfrm>
            <a:off x="7531100" y="2387600"/>
            <a:ext cx="1600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BE4A45"/>
                </a:solidFill>
                <a:latin typeface="Tahoma" panose="020B0604030504040204" pitchFamily="34" charset="0"/>
              </a:rPr>
              <a:t>SELECTION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B7FA66-8C2A-7774-EA5D-F841B24F6BC3}"/>
              </a:ext>
            </a:extLst>
          </p:cNvPr>
          <p:cNvSpPr txBox="1"/>
          <p:nvPr/>
        </p:nvSpPr>
        <p:spPr>
          <a:xfrm>
            <a:off x="7531100" y="2806700"/>
            <a:ext cx="1600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300" b="1">
                <a:solidFill>
                  <a:srgbClr val="0A1C25"/>
                </a:solidFill>
                <a:latin typeface="Calibri" panose="020F0502020204030204" pitchFamily="34" charset="0"/>
              </a:rPr>
              <a:t>Local Qwen + validation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CFD256-27AB-2EA1-50AF-CBDB16561AA7}"/>
              </a:ext>
            </a:extLst>
          </p:cNvPr>
          <p:cNvCxnSpPr/>
          <p:nvPr/>
        </p:nvCxnSpPr>
        <p:spPr>
          <a:xfrm>
            <a:off x="9296400" y="3060700"/>
            <a:ext cx="330200" cy="0"/>
          </a:xfrm>
          <a:prstGeom prst="line">
            <a:avLst/>
          </a:prstGeom>
          <a:ln w="19050">
            <a:solidFill>
              <a:srgbClr val="5668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C45D9B-3C57-20EE-5151-5819780EBCB2}"/>
              </a:ext>
            </a:extLst>
          </p:cNvPr>
          <p:cNvSpPr/>
          <p:nvPr/>
        </p:nvSpPr>
        <p:spPr>
          <a:xfrm>
            <a:off x="9677400" y="2159000"/>
            <a:ext cx="1905000" cy="180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4A6560-B092-B29E-C8BC-E39A47968625}"/>
              </a:ext>
            </a:extLst>
          </p:cNvPr>
          <p:cNvSpPr txBox="1"/>
          <p:nvPr/>
        </p:nvSpPr>
        <p:spPr>
          <a:xfrm>
            <a:off x="9829800" y="2387600"/>
            <a:ext cx="1600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DELIVERY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529F73-8190-43E9-CB68-0078D2EE8A2B}"/>
              </a:ext>
            </a:extLst>
          </p:cNvPr>
          <p:cNvSpPr txBox="1"/>
          <p:nvPr/>
        </p:nvSpPr>
        <p:spPr>
          <a:xfrm>
            <a:off x="9829800" y="2806700"/>
            <a:ext cx="1600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300" b="1">
                <a:solidFill>
                  <a:srgbClr val="0A1C25"/>
                </a:solidFill>
                <a:latin typeface="Calibri" panose="020F0502020204030204" pitchFamily="34" charset="0"/>
              </a:rPr>
              <a:t>Searchable PDF + evaluation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D0AAB7-ACBB-0C28-C532-8BD5082ED8A3}"/>
              </a:ext>
            </a:extLst>
          </p:cNvPr>
          <p:cNvSpPr txBox="1"/>
          <p:nvPr/>
        </p:nvSpPr>
        <p:spPr>
          <a:xfrm>
            <a:off x="1143000" y="4533900"/>
            <a:ext cx="990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A1C25"/>
                </a:solidFill>
                <a:latin typeface="Calibri" panose="020F0502020204030204" pitchFamily="34" charset="0"/>
              </a:rPr>
              <a:t>All correction stages operate locally; the original OCR is retained alongside corrected output and provenance.</a:t>
            </a:r>
            <a:endParaRPr lang="en-IN" sz="15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EC7048C-04E2-2AA5-9B7A-52FE2E506617}"/>
              </a:ext>
            </a:extLst>
          </p:cNvPr>
          <p:cNvSpPr/>
          <p:nvPr/>
        </p:nvSpPr>
        <p:spPr>
          <a:xfrm>
            <a:off x="2603500" y="5397500"/>
            <a:ext cx="6985000" cy="533400"/>
          </a:xfrm>
          <a:prstGeom prst="roundRect">
            <a:avLst/>
          </a:prstGeom>
          <a:solidFill>
            <a:srgbClr val="E8F4F1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D3BF58-D064-005A-E5BB-2812B3E7B7BC}"/>
              </a:ext>
            </a:extLst>
          </p:cNvPr>
          <p:cNvSpPr txBox="1"/>
          <p:nvPr/>
        </p:nvSpPr>
        <p:spPr>
          <a:xfrm>
            <a:off x="2794000" y="55499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1F7469"/>
                </a:solidFill>
                <a:latin typeface="Tahoma" panose="020B0604030504040204" pitchFamily="34" charset="0"/>
              </a:rPr>
              <a:t>No cloud language-model API is required for correction.</a:t>
            </a:r>
            <a:endParaRPr lang="en-IN" sz="1100" b="1">
              <a:solidFill>
                <a:srgbClr val="1F7469"/>
              </a:solidFill>
              <a:latin typeface="Tahoma" panose="020B060403050404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4DD379-B521-0F7F-6F17-E68A69F1538F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9C9CC2B-7BBC-6B14-CAAA-784D44B378BC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1E324C-0BC1-D78D-1F8B-5480FF4F0379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3084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AF9828-5788-D5A5-4092-3918F278CE76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EXECUTION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C461A-BCF9-A7D0-E91F-74428688B01D}"/>
              </a:ext>
            </a:extLst>
          </p:cNvPr>
          <p:cNvSpPr txBox="1"/>
          <p:nvPr/>
        </p:nvSpPr>
        <p:spPr>
          <a:xfrm>
            <a:off x="482600" y="571500"/>
            <a:ext cx="11049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Every stage exposes its input, method, parameters, output and diagnostics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C528F-ED8F-7C1B-F8A0-407A60F009EC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7866B7F-17A7-67DF-A2E7-EF4B34C1BCB1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4FF1CA-3389-537C-0F1E-FB94BA9A55E7}"/>
              </a:ext>
            </a:extLst>
          </p:cNvPr>
          <p:cNvSpPr/>
          <p:nvPr/>
        </p:nvSpPr>
        <p:spPr>
          <a:xfrm>
            <a:off x="558800" y="17780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7E0D2-9FC7-F445-9D47-7D14A1F7A335}"/>
              </a:ext>
            </a:extLst>
          </p:cNvPr>
          <p:cNvSpPr txBox="1"/>
          <p:nvPr/>
        </p:nvSpPr>
        <p:spPr>
          <a:xfrm>
            <a:off x="685800" y="19050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Courier New" panose="02070309020205020404" pitchFamily="49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AEECB3-BCE5-331C-1361-F2F692F91B9F}"/>
              </a:ext>
            </a:extLst>
          </p:cNvPr>
          <p:cNvSpPr txBox="1"/>
          <p:nvPr/>
        </p:nvSpPr>
        <p:spPr>
          <a:xfrm>
            <a:off x="1041400" y="19050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Document Input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D5F1EF-7E96-5869-AEC8-75F335658CAB}"/>
              </a:ext>
            </a:extLst>
          </p:cNvPr>
          <p:cNvCxnSpPr/>
          <p:nvPr/>
        </p:nvCxnSpPr>
        <p:spPr>
          <a:xfrm>
            <a:off x="2578100" y="22733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C478DC-98A0-8A4E-99E8-1C7369C7F1A9}"/>
              </a:ext>
            </a:extLst>
          </p:cNvPr>
          <p:cNvSpPr/>
          <p:nvPr/>
        </p:nvSpPr>
        <p:spPr>
          <a:xfrm>
            <a:off x="2857500" y="17780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776EA-9592-65A4-26A5-D3489B246103}"/>
              </a:ext>
            </a:extLst>
          </p:cNvPr>
          <p:cNvSpPr txBox="1"/>
          <p:nvPr/>
        </p:nvSpPr>
        <p:spPr>
          <a:xfrm>
            <a:off x="2984500" y="19050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Courier New" panose="02070309020205020404" pitchFamily="49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6214A5-DAB7-B780-735A-A3649E806A77}"/>
              </a:ext>
            </a:extLst>
          </p:cNvPr>
          <p:cNvSpPr txBox="1"/>
          <p:nvPr/>
        </p:nvSpPr>
        <p:spPr>
          <a:xfrm>
            <a:off x="3340100" y="19050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Preprocessing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1FAB68-AF50-2CF7-E4DA-3514528456F8}"/>
              </a:ext>
            </a:extLst>
          </p:cNvPr>
          <p:cNvCxnSpPr/>
          <p:nvPr/>
        </p:nvCxnSpPr>
        <p:spPr>
          <a:xfrm>
            <a:off x="4876800" y="22733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4E946F-320F-3388-E3A7-48C5266E1E29}"/>
              </a:ext>
            </a:extLst>
          </p:cNvPr>
          <p:cNvSpPr/>
          <p:nvPr/>
        </p:nvSpPr>
        <p:spPr>
          <a:xfrm>
            <a:off x="5156200" y="17780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5345D-D5FB-F444-CD2A-2F3748ED9A65}"/>
              </a:ext>
            </a:extLst>
          </p:cNvPr>
          <p:cNvSpPr txBox="1"/>
          <p:nvPr/>
        </p:nvSpPr>
        <p:spPr>
          <a:xfrm>
            <a:off x="5283200" y="19050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Courier New" panose="02070309020205020404" pitchFamily="49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D1522-0FE3-6363-35C1-2BB83AFBD967}"/>
              </a:ext>
            </a:extLst>
          </p:cNvPr>
          <p:cNvSpPr txBox="1"/>
          <p:nvPr/>
        </p:nvSpPr>
        <p:spPr>
          <a:xfrm>
            <a:off x="5638800" y="19050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Layout Detection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B41DDF-83BF-B6E5-3E9C-387DB3798B0C}"/>
              </a:ext>
            </a:extLst>
          </p:cNvPr>
          <p:cNvCxnSpPr/>
          <p:nvPr/>
        </p:nvCxnSpPr>
        <p:spPr>
          <a:xfrm>
            <a:off x="7175500" y="22733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CB66A2-7418-CDCC-8089-D9B4E40644D8}"/>
              </a:ext>
            </a:extLst>
          </p:cNvPr>
          <p:cNvSpPr/>
          <p:nvPr/>
        </p:nvSpPr>
        <p:spPr>
          <a:xfrm>
            <a:off x="7454900" y="17780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1A183-1B6B-FC56-3593-3039ED32BA18}"/>
              </a:ext>
            </a:extLst>
          </p:cNvPr>
          <p:cNvSpPr txBox="1"/>
          <p:nvPr/>
        </p:nvSpPr>
        <p:spPr>
          <a:xfrm>
            <a:off x="7581900" y="19050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Courier New" panose="02070309020205020404" pitchFamily="49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8753DE-68C2-25D9-6074-69C551594B10}"/>
              </a:ext>
            </a:extLst>
          </p:cNvPr>
          <p:cNvSpPr txBox="1"/>
          <p:nvPr/>
        </p:nvSpPr>
        <p:spPr>
          <a:xfrm>
            <a:off x="7937500" y="19050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Reading Order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404BE30-E47A-B912-BC59-293311F729C2}"/>
              </a:ext>
            </a:extLst>
          </p:cNvPr>
          <p:cNvCxnSpPr/>
          <p:nvPr/>
        </p:nvCxnSpPr>
        <p:spPr>
          <a:xfrm>
            <a:off x="9474200" y="22733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26D5BB6-A97E-FE71-A1CB-EF5A9D41E127}"/>
              </a:ext>
            </a:extLst>
          </p:cNvPr>
          <p:cNvSpPr/>
          <p:nvPr/>
        </p:nvSpPr>
        <p:spPr>
          <a:xfrm>
            <a:off x="9753600" y="17780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F0BAE5-C4BF-32AA-0FCC-50E04C09A34C}"/>
              </a:ext>
            </a:extLst>
          </p:cNvPr>
          <p:cNvSpPr txBox="1"/>
          <p:nvPr/>
        </p:nvSpPr>
        <p:spPr>
          <a:xfrm>
            <a:off x="9880600" y="19050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Courier New" panose="02070309020205020404" pitchFamily="49" charset="0"/>
              </a:rPr>
              <a:t>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C48EB6-C2CB-8443-BD9C-3A76E266D402}"/>
              </a:ext>
            </a:extLst>
          </p:cNvPr>
          <p:cNvSpPr txBox="1"/>
          <p:nvPr/>
        </p:nvSpPr>
        <p:spPr>
          <a:xfrm>
            <a:off x="10236200" y="19050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OCR Extraction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B38BC52-2394-2CEA-51C9-9183FD9C1B2D}"/>
              </a:ext>
            </a:extLst>
          </p:cNvPr>
          <p:cNvSpPr/>
          <p:nvPr/>
        </p:nvSpPr>
        <p:spPr>
          <a:xfrm>
            <a:off x="558800" y="30988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6408F6-DADA-34B1-D2F7-CC09D673BD21}"/>
              </a:ext>
            </a:extLst>
          </p:cNvPr>
          <p:cNvSpPr txBox="1"/>
          <p:nvPr/>
        </p:nvSpPr>
        <p:spPr>
          <a:xfrm>
            <a:off x="685800" y="32258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Courier New" panose="02070309020205020404" pitchFamily="49" charset="0"/>
              </a:rPr>
              <a:t>06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25D8F1-F689-A573-92C4-49C1C37C9D03}"/>
              </a:ext>
            </a:extLst>
          </p:cNvPr>
          <p:cNvSpPr txBox="1"/>
          <p:nvPr/>
        </p:nvSpPr>
        <p:spPr>
          <a:xfrm>
            <a:off x="1041400" y="32258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Confidence Analysis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A1C5B9-0CA2-2F40-C6C8-1233FADCB3D5}"/>
              </a:ext>
            </a:extLst>
          </p:cNvPr>
          <p:cNvCxnSpPr/>
          <p:nvPr/>
        </p:nvCxnSpPr>
        <p:spPr>
          <a:xfrm>
            <a:off x="2578100" y="35941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7975D8C-AC79-F226-5525-CDB2C72CBB20}"/>
              </a:ext>
            </a:extLst>
          </p:cNvPr>
          <p:cNvSpPr/>
          <p:nvPr/>
        </p:nvSpPr>
        <p:spPr>
          <a:xfrm>
            <a:off x="2857500" y="30988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B4A597-09F0-D30E-5D90-5680B24DB2D9}"/>
              </a:ext>
            </a:extLst>
          </p:cNvPr>
          <p:cNvSpPr txBox="1"/>
          <p:nvPr/>
        </p:nvSpPr>
        <p:spPr>
          <a:xfrm>
            <a:off x="2984500" y="32258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Courier New" panose="02070309020205020404" pitchFamily="49" charset="0"/>
              </a:rPr>
              <a:t>07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D7488A-82F7-5A45-DDA4-CE917E5CE957}"/>
              </a:ext>
            </a:extLst>
          </p:cNvPr>
          <p:cNvSpPr txBox="1"/>
          <p:nvPr/>
        </p:nvSpPr>
        <p:spPr>
          <a:xfrm>
            <a:off x="3340100" y="3225800"/>
            <a:ext cx="1371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Low-Confidence Detection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E46158-76A2-C613-2AC9-0155A26A1C03}"/>
              </a:ext>
            </a:extLst>
          </p:cNvPr>
          <p:cNvCxnSpPr/>
          <p:nvPr/>
        </p:nvCxnSpPr>
        <p:spPr>
          <a:xfrm>
            <a:off x="4876800" y="35941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E05D0C4-BC6C-680E-244F-7F83ABE90680}"/>
              </a:ext>
            </a:extLst>
          </p:cNvPr>
          <p:cNvSpPr/>
          <p:nvPr/>
        </p:nvSpPr>
        <p:spPr>
          <a:xfrm>
            <a:off x="5156200" y="30988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CFE3D9-2E7F-213D-DA88-FF7006003B80}"/>
              </a:ext>
            </a:extLst>
          </p:cNvPr>
          <p:cNvSpPr txBox="1"/>
          <p:nvPr/>
        </p:nvSpPr>
        <p:spPr>
          <a:xfrm>
            <a:off x="5283200" y="32258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Courier New" panose="02070309020205020404" pitchFamily="49" charset="0"/>
              </a:rPr>
              <a:t>08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E31718-AC4A-A0F2-FEC8-376C36BC480D}"/>
              </a:ext>
            </a:extLst>
          </p:cNvPr>
          <p:cNvSpPr txBox="1"/>
          <p:nvPr/>
        </p:nvSpPr>
        <p:spPr>
          <a:xfrm>
            <a:off x="5638800" y="32258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Candidate Generation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64CEEAD-ADDE-F833-E0E6-7BA3DB169509}"/>
              </a:ext>
            </a:extLst>
          </p:cNvPr>
          <p:cNvCxnSpPr/>
          <p:nvPr/>
        </p:nvCxnSpPr>
        <p:spPr>
          <a:xfrm>
            <a:off x="7175500" y="35941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18784A1-CE6F-0F2F-75C6-436916690DBA}"/>
              </a:ext>
            </a:extLst>
          </p:cNvPr>
          <p:cNvSpPr/>
          <p:nvPr/>
        </p:nvSpPr>
        <p:spPr>
          <a:xfrm>
            <a:off x="7454900" y="30988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53A688-10A8-9B47-42F1-E94DC2B73D53}"/>
              </a:ext>
            </a:extLst>
          </p:cNvPr>
          <p:cNvSpPr txBox="1"/>
          <p:nvPr/>
        </p:nvSpPr>
        <p:spPr>
          <a:xfrm>
            <a:off x="7581900" y="32258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Courier New" panose="02070309020205020404" pitchFamily="49" charset="0"/>
              </a:rPr>
              <a:t>09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8BF9F-1BEC-D06D-3F9B-D03A3B2019AB}"/>
              </a:ext>
            </a:extLst>
          </p:cNvPr>
          <p:cNvSpPr txBox="1"/>
          <p:nvPr/>
        </p:nvSpPr>
        <p:spPr>
          <a:xfrm>
            <a:off x="7937500" y="32258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Semantic Retrieval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7BD4E54-E9D7-E0DB-FB46-9D657D9A5E45}"/>
              </a:ext>
            </a:extLst>
          </p:cNvPr>
          <p:cNvCxnSpPr/>
          <p:nvPr/>
        </p:nvCxnSpPr>
        <p:spPr>
          <a:xfrm>
            <a:off x="9474200" y="35941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05EADE3-BFAF-4B1B-C4CF-BDC71CFF1CAA}"/>
              </a:ext>
            </a:extLst>
          </p:cNvPr>
          <p:cNvSpPr/>
          <p:nvPr/>
        </p:nvSpPr>
        <p:spPr>
          <a:xfrm>
            <a:off x="9753600" y="30988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47560D-29D2-ECB3-32DD-005228470AC4}"/>
              </a:ext>
            </a:extLst>
          </p:cNvPr>
          <p:cNvSpPr txBox="1"/>
          <p:nvPr/>
        </p:nvSpPr>
        <p:spPr>
          <a:xfrm>
            <a:off x="9880600" y="32258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57B5D7-D7C8-6D4D-D927-7EB4ECAB09B9}"/>
              </a:ext>
            </a:extLst>
          </p:cNvPr>
          <p:cNvSpPr txBox="1"/>
          <p:nvPr/>
        </p:nvSpPr>
        <p:spPr>
          <a:xfrm>
            <a:off x="10236200" y="32258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Knowledge Graph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8ED0E67-AB2E-D865-8FED-F101B4602518}"/>
              </a:ext>
            </a:extLst>
          </p:cNvPr>
          <p:cNvSpPr/>
          <p:nvPr/>
        </p:nvSpPr>
        <p:spPr>
          <a:xfrm>
            <a:off x="558800" y="44196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A2AB6F-EB58-3636-7570-E7B78FCDD8CA}"/>
              </a:ext>
            </a:extLst>
          </p:cNvPr>
          <p:cNvSpPr txBox="1"/>
          <p:nvPr/>
        </p:nvSpPr>
        <p:spPr>
          <a:xfrm>
            <a:off x="685800" y="4546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Courier New" panose="02070309020205020404" pitchFamily="49" charset="0"/>
              </a:rPr>
              <a:t>11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A20D3C-8C48-0C9B-E1DC-6F1CC50AF88B}"/>
              </a:ext>
            </a:extLst>
          </p:cNvPr>
          <p:cNvSpPr txBox="1"/>
          <p:nvPr/>
        </p:nvSpPr>
        <p:spPr>
          <a:xfrm>
            <a:off x="1041400" y="45466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Hybrid GraphRAG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F0321A2-3052-22C2-7AD5-DE59954F135B}"/>
              </a:ext>
            </a:extLst>
          </p:cNvPr>
          <p:cNvCxnSpPr/>
          <p:nvPr/>
        </p:nvCxnSpPr>
        <p:spPr>
          <a:xfrm>
            <a:off x="2578100" y="49149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E52C715-CDFA-4E56-B66F-C5A5CD44149A}"/>
              </a:ext>
            </a:extLst>
          </p:cNvPr>
          <p:cNvSpPr/>
          <p:nvPr/>
        </p:nvSpPr>
        <p:spPr>
          <a:xfrm>
            <a:off x="2857500" y="44196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043EFF-F1DF-5A36-B0A8-56DBD134222B}"/>
              </a:ext>
            </a:extLst>
          </p:cNvPr>
          <p:cNvSpPr txBox="1"/>
          <p:nvPr/>
        </p:nvSpPr>
        <p:spPr>
          <a:xfrm>
            <a:off x="2984500" y="4546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Courier New" panose="02070309020205020404" pitchFamily="49" charset="0"/>
              </a:rPr>
              <a:t>12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326CB2-6863-D00A-21DB-070C42537A8E}"/>
              </a:ext>
            </a:extLst>
          </p:cNvPr>
          <p:cNvSpPr txBox="1"/>
          <p:nvPr/>
        </p:nvSpPr>
        <p:spPr>
          <a:xfrm>
            <a:off x="3340100" y="45466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Dynamic Prompt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C1667B4-AC30-9DCF-E30E-13613399BF2C}"/>
              </a:ext>
            </a:extLst>
          </p:cNvPr>
          <p:cNvCxnSpPr/>
          <p:nvPr/>
        </p:nvCxnSpPr>
        <p:spPr>
          <a:xfrm>
            <a:off x="4876800" y="49149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6E84069-C373-5E71-6482-AF7DEF9ABB25}"/>
              </a:ext>
            </a:extLst>
          </p:cNvPr>
          <p:cNvSpPr/>
          <p:nvPr/>
        </p:nvSpPr>
        <p:spPr>
          <a:xfrm>
            <a:off x="5156200" y="44196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DC890D-4467-E37C-A85E-981E3B2DC418}"/>
              </a:ext>
            </a:extLst>
          </p:cNvPr>
          <p:cNvSpPr txBox="1"/>
          <p:nvPr/>
        </p:nvSpPr>
        <p:spPr>
          <a:xfrm>
            <a:off x="5283200" y="4546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1E3FD3-9870-0E24-82C9-65FC3ED47B6D}"/>
              </a:ext>
            </a:extLst>
          </p:cNvPr>
          <p:cNvSpPr txBox="1"/>
          <p:nvPr/>
        </p:nvSpPr>
        <p:spPr>
          <a:xfrm>
            <a:off x="5638800" y="45466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Qwen Selection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A041190-C004-3C25-069A-4100A4BC76F2}"/>
              </a:ext>
            </a:extLst>
          </p:cNvPr>
          <p:cNvCxnSpPr/>
          <p:nvPr/>
        </p:nvCxnSpPr>
        <p:spPr>
          <a:xfrm>
            <a:off x="7175500" y="49149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62584EC-71DE-1798-9CC0-831FB2716C6B}"/>
              </a:ext>
            </a:extLst>
          </p:cNvPr>
          <p:cNvSpPr/>
          <p:nvPr/>
        </p:nvSpPr>
        <p:spPr>
          <a:xfrm>
            <a:off x="7454900" y="44196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C5CE29-D424-3EB2-43D6-9714AB05A230}"/>
              </a:ext>
            </a:extLst>
          </p:cNvPr>
          <p:cNvSpPr txBox="1"/>
          <p:nvPr/>
        </p:nvSpPr>
        <p:spPr>
          <a:xfrm>
            <a:off x="7581900" y="4546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D0E6F0-4736-2054-397D-947FD89E2439}"/>
              </a:ext>
            </a:extLst>
          </p:cNvPr>
          <p:cNvSpPr txBox="1"/>
          <p:nvPr/>
        </p:nvSpPr>
        <p:spPr>
          <a:xfrm>
            <a:off x="7937500" y="45466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Validation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5DB40B7-1347-3E43-A557-537B5123D283}"/>
              </a:ext>
            </a:extLst>
          </p:cNvPr>
          <p:cNvCxnSpPr/>
          <p:nvPr/>
        </p:nvCxnSpPr>
        <p:spPr>
          <a:xfrm>
            <a:off x="9474200" y="4914900"/>
            <a:ext cx="215900" cy="0"/>
          </a:xfrm>
          <a:prstGeom prst="line">
            <a:avLst/>
          </a:prstGeom>
          <a:ln w="12700">
            <a:solidFill>
              <a:srgbClr val="DAE2D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23229EB-50B6-A8D5-9D6B-BD47678F3433}"/>
              </a:ext>
            </a:extLst>
          </p:cNvPr>
          <p:cNvSpPr/>
          <p:nvPr/>
        </p:nvSpPr>
        <p:spPr>
          <a:xfrm>
            <a:off x="9753600" y="4419600"/>
            <a:ext cx="20066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FDCA59-6263-9067-2B65-071720E51795}"/>
              </a:ext>
            </a:extLst>
          </p:cNvPr>
          <p:cNvSpPr txBox="1"/>
          <p:nvPr/>
        </p:nvSpPr>
        <p:spPr>
          <a:xfrm>
            <a:off x="9880600" y="45466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Courier New" panose="02070309020205020404" pitchFamily="49" charset="0"/>
              </a:rPr>
              <a:t>15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C3F715-B35B-AA39-6A87-26FCC90BBAB8}"/>
              </a:ext>
            </a:extLst>
          </p:cNvPr>
          <p:cNvSpPr txBox="1"/>
          <p:nvPr/>
        </p:nvSpPr>
        <p:spPr>
          <a:xfrm>
            <a:off x="10236200" y="45466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0A1C25"/>
                </a:solidFill>
                <a:latin typeface="Calibri" panose="020F0502020204030204" pitchFamily="34" charset="0"/>
              </a:rPr>
              <a:t>Final Output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CE0EF6-8515-9D98-F551-31BECD893AD6}"/>
              </a:ext>
            </a:extLst>
          </p:cNvPr>
          <p:cNvSpPr txBox="1"/>
          <p:nvPr/>
        </p:nvSpPr>
        <p:spPr>
          <a:xfrm>
            <a:off x="609600" y="5880100"/>
            <a:ext cx="10972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56686E"/>
                </a:solidFill>
                <a:latin typeface="Calibri" panose="020F0502020204030204" pitchFamily="34" charset="0"/>
              </a:rPr>
              <a:t>Selective path: only tokens below the configured confidence threshold enter candidate, retrieval and Qwen stages.</a:t>
            </a:r>
            <a:endParaRPr lang="en-IN" sz="1100" b="1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6209191-E0FB-F814-9ED9-6F7E13EAD667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D4D55D7-DF85-4647-D4D4-AC6ADE2ED6B8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92DC93-65AB-4F7D-02FB-9B3B78834ABA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5272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04810-1791-1F5A-B95E-506D4179EA25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IMPLEMENTATION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8DD8B-0EAA-D893-EE10-3231DCF8E05D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Actual components used in the running system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E02716-7703-D20A-E7A5-4D7341D8436F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CA61821-5262-CED8-22A7-426EEA289E16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48C39A-A1C9-28B7-7E91-3F37485B03D2}"/>
              </a:ext>
            </a:extLst>
          </p:cNvPr>
          <p:cNvSpPr/>
          <p:nvPr/>
        </p:nvSpPr>
        <p:spPr>
          <a:xfrm>
            <a:off x="609600" y="1752600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3B035-AC7D-3AAB-26E3-8CB7BD97CC3A}"/>
              </a:ext>
            </a:extLst>
          </p:cNvPr>
          <p:cNvSpPr txBox="1"/>
          <p:nvPr/>
        </p:nvSpPr>
        <p:spPr>
          <a:xfrm>
            <a:off x="787400" y="19050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API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506CA-4E13-E50D-3954-F4809B14D1EE}"/>
              </a:ext>
            </a:extLst>
          </p:cNvPr>
          <p:cNvSpPr txBox="1"/>
          <p:nvPr/>
        </p:nvSpPr>
        <p:spPr>
          <a:xfrm>
            <a:off x="787400" y="21717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FastAPI + Uvicorn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9BB9F-90BE-3AF2-FE52-400678423C2F}"/>
              </a:ext>
            </a:extLst>
          </p:cNvPr>
          <p:cNvSpPr txBox="1"/>
          <p:nvPr/>
        </p:nvSpPr>
        <p:spPr>
          <a:xfrm>
            <a:off x="2946400" y="1892300"/>
            <a:ext cx="8636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50" b="1">
                <a:solidFill>
                  <a:srgbClr val="1F7469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D389B5-CC4B-499B-FB88-DE350068A6AE}"/>
              </a:ext>
            </a:extLst>
          </p:cNvPr>
          <p:cNvSpPr/>
          <p:nvPr/>
        </p:nvSpPr>
        <p:spPr>
          <a:xfrm>
            <a:off x="4343400" y="1752600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EB8C8E-C317-D9A2-A00F-968F04190E76}"/>
              </a:ext>
            </a:extLst>
          </p:cNvPr>
          <p:cNvSpPr txBox="1"/>
          <p:nvPr/>
        </p:nvSpPr>
        <p:spPr>
          <a:xfrm>
            <a:off x="4521200" y="19050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OCR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22DCAD-EFDC-2F34-DD37-AF76D978F063}"/>
              </a:ext>
            </a:extLst>
          </p:cNvPr>
          <p:cNvSpPr txBox="1"/>
          <p:nvPr/>
        </p:nvSpPr>
        <p:spPr>
          <a:xfrm>
            <a:off x="4521200" y="21717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PaddleOCR PP-OCRv5 mobile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A8CF49-DAFC-6CA6-70E7-D96FCE10F64D}"/>
              </a:ext>
            </a:extLst>
          </p:cNvPr>
          <p:cNvSpPr txBox="1"/>
          <p:nvPr/>
        </p:nvSpPr>
        <p:spPr>
          <a:xfrm>
            <a:off x="6680200" y="1892300"/>
            <a:ext cx="8636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50" b="1">
                <a:solidFill>
                  <a:srgbClr val="1F7469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50A905-0CA2-5054-7135-C344FE65A59D}"/>
              </a:ext>
            </a:extLst>
          </p:cNvPr>
          <p:cNvSpPr/>
          <p:nvPr/>
        </p:nvSpPr>
        <p:spPr>
          <a:xfrm>
            <a:off x="8077200" y="1752600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D0A0E9-2951-FB47-87BE-871A8891CDAC}"/>
              </a:ext>
            </a:extLst>
          </p:cNvPr>
          <p:cNvSpPr txBox="1"/>
          <p:nvPr/>
        </p:nvSpPr>
        <p:spPr>
          <a:xfrm>
            <a:off x="8255000" y="19050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LAYOUT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893628-600E-1EA8-36B8-CCAAFDAE9055}"/>
              </a:ext>
            </a:extLst>
          </p:cNvPr>
          <p:cNvSpPr txBox="1"/>
          <p:nvPr/>
        </p:nvSpPr>
        <p:spPr>
          <a:xfrm>
            <a:off x="8255000" y="21717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DocLayout-YOLO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263B0-7267-5F62-4510-51275BBF669D}"/>
              </a:ext>
            </a:extLst>
          </p:cNvPr>
          <p:cNvSpPr txBox="1"/>
          <p:nvPr/>
        </p:nvSpPr>
        <p:spPr>
          <a:xfrm>
            <a:off x="10414000" y="1892300"/>
            <a:ext cx="8636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50" b="1" dirty="0">
                <a:solidFill>
                  <a:srgbClr val="1F7469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541956-CCCF-0A46-145D-F9866622E41D}"/>
              </a:ext>
            </a:extLst>
          </p:cNvPr>
          <p:cNvSpPr/>
          <p:nvPr/>
        </p:nvSpPr>
        <p:spPr>
          <a:xfrm>
            <a:off x="609600" y="3073400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32DD3C-F025-5BDC-08BE-03FB3E72B06E}"/>
              </a:ext>
            </a:extLst>
          </p:cNvPr>
          <p:cNvSpPr txBox="1"/>
          <p:nvPr/>
        </p:nvSpPr>
        <p:spPr>
          <a:xfrm>
            <a:off x="787400" y="32258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EMBEDDING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4773BA-9339-C726-71B2-A55D368ED871}"/>
              </a:ext>
            </a:extLst>
          </p:cNvPr>
          <p:cNvSpPr txBox="1"/>
          <p:nvPr/>
        </p:nvSpPr>
        <p:spPr>
          <a:xfrm>
            <a:off x="787400" y="34925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BGE-M3 Q4_K_M via llama.cpp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EAA4E0-3774-3B22-1569-BB287052FFC5}"/>
              </a:ext>
            </a:extLst>
          </p:cNvPr>
          <p:cNvSpPr txBox="1"/>
          <p:nvPr/>
        </p:nvSpPr>
        <p:spPr>
          <a:xfrm>
            <a:off x="2946400" y="3213100"/>
            <a:ext cx="8636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50" b="1">
                <a:solidFill>
                  <a:srgbClr val="2766C9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6CF48C5-6348-251A-6336-3542E4081843}"/>
              </a:ext>
            </a:extLst>
          </p:cNvPr>
          <p:cNvSpPr/>
          <p:nvPr/>
        </p:nvSpPr>
        <p:spPr>
          <a:xfrm>
            <a:off x="4343400" y="3073400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3AE028-EFDF-40FA-4077-375C317225CD}"/>
              </a:ext>
            </a:extLst>
          </p:cNvPr>
          <p:cNvSpPr txBox="1"/>
          <p:nvPr/>
        </p:nvSpPr>
        <p:spPr>
          <a:xfrm>
            <a:off x="4521200" y="32258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VECTOR SEARCH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8B1CF1-B2ED-9AE7-3DE2-0329A358BB39}"/>
              </a:ext>
            </a:extLst>
          </p:cNvPr>
          <p:cNvSpPr txBox="1"/>
          <p:nvPr/>
        </p:nvSpPr>
        <p:spPr>
          <a:xfrm>
            <a:off x="4521200" y="34925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FAISS IndexFlatIP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6B701B-3463-8A4F-2382-73FA08944290}"/>
              </a:ext>
            </a:extLst>
          </p:cNvPr>
          <p:cNvSpPr txBox="1"/>
          <p:nvPr/>
        </p:nvSpPr>
        <p:spPr>
          <a:xfrm>
            <a:off x="6680200" y="3213100"/>
            <a:ext cx="8636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50" b="1">
                <a:solidFill>
                  <a:srgbClr val="2766C9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571B82D-81B4-A09A-7BAA-943DFEA442CA}"/>
              </a:ext>
            </a:extLst>
          </p:cNvPr>
          <p:cNvSpPr/>
          <p:nvPr/>
        </p:nvSpPr>
        <p:spPr>
          <a:xfrm>
            <a:off x="8102600" y="3096514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800" b="1" dirty="0">
                <a:solidFill>
                  <a:srgbClr val="1F7469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CF6973-7CAF-0256-350B-8FFBA78F3E63}"/>
              </a:ext>
            </a:extLst>
          </p:cNvPr>
          <p:cNvSpPr txBox="1"/>
          <p:nvPr/>
        </p:nvSpPr>
        <p:spPr>
          <a:xfrm>
            <a:off x="8255000" y="32258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Tahoma" panose="020B0604030504040204" pitchFamily="34" charset="0"/>
              </a:rPr>
              <a:t>GRAPH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A3F668-EEE9-F336-C8F8-C42903A17A7B}"/>
              </a:ext>
            </a:extLst>
          </p:cNvPr>
          <p:cNvSpPr txBox="1"/>
          <p:nvPr/>
        </p:nvSpPr>
        <p:spPr>
          <a:xfrm>
            <a:off x="8255000" y="34925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In-memory graph; Neo4j optional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6A7B5BE-1F0B-2421-B0C1-DA4A39C45882}"/>
              </a:ext>
            </a:extLst>
          </p:cNvPr>
          <p:cNvSpPr/>
          <p:nvPr/>
        </p:nvSpPr>
        <p:spPr>
          <a:xfrm>
            <a:off x="609600" y="4394200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EE5C7B-8CDC-1844-32BD-2AF1C0CA3162}"/>
              </a:ext>
            </a:extLst>
          </p:cNvPr>
          <p:cNvSpPr txBox="1"/>
          <p:nvPr/>
        </p:nvSpPr>
        <p:spPr>
          <a:xfrm>
            <a:off x="787400" y="45466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BE4A45"/>
                </a:solidFill>
                <a:latin typeface="Tahoma" panose="020B0604030504040204" pitchFamily="34" charset="0"/>
              </a:rPr>
              <a:t>LOCAL SLM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2F1CA3-C4B6-DBA8-D96F-C6DF31213EF8}"/>
              </a:ext>
            </a:extLst>
          </p:cNvPr>
          <p:cNvSpPr txBox="1"/>
          <p:nvPr/>
        </p:nvSpPr>
        <p:spPr>
          <a:xfrm>
            <a:off x="787400" y="48133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Qwen2.5-3B-Instruct Q4_K_M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CB06A2-3856-6BD5-9D90-C566CD451256}"/>
              </a:ext>
            </a:extLst>
          </p:cNvPr>
          <p:cNvSpPr txBox="1"/>
          <p:nvPr/>
        </p:nvSpPr>
        <p:spPr>
          <a:xfrm>
            <a:off x="2946400" y="4533900"/>
            <a:ext cx="8636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50" b="1">
                <a:solidFill>
                  <a:srgbClr val="BE4A45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FCD6F2A-FFE6-5526-B7E8-A00DD7E842C3}"/>
              </a:ext>
            </a:extLst>
          </p:cNvPr>
          <p:cNvSpPr/>
          <p:nvPr/>
        </p:nvSpPr>
        <p:spPr>
          <a:xfrm>
            <a:off x="4343400" y="4394200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5A01EE-B1C1-0131-EAA1-7F25516D6921}"/>
              </a:ext>
            </a:extLst>
          </p:cNvPr>
          <p:cNvSpPr txBox="1"/>
          <p:nvPr/>
        </p:nvSpPr>
        <p:spPr>
          <a:xfrm>
            <a:off x="4521200" y="45466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UI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E949A8-BF75-A0E6-4177-C461CD1035BD}"/>
              </a:ext>
            </a:extLst>
          </p:cNvPr>
          <p:cNvSpPr txBox="1"/>
          <p:nvPr/>
        </p:nvSpPr>
        <p:spPr>
          <a:xfrm>
            <a:off x="4521200" y="48133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React + Vite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2CB1C3-B5EF-FC4C-F6CC-A149A16EB131}"/>
              </a:ext>
            </a:extLst>
          </p:cNvPr>
          <p:cNvSpPr txBox="1"/>
          <p:nvPr/>
        </p:nvSpPr>
        <p:spPr>
          <a:xfrm>
            <a:off x="6680200" y="4533900"/>
            <a:ext cx="8636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50" b="1">
                <a:solidFill>
                  <a:srgbClr val="1F7469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091B64D-1426-23BC-5325-9ED496F02421}"/>
              </a:ext>
            </a:extLst>
          </p:cNvPr>
          <p:cNvSpPr/>
          <p:nvPr/>
        </p:nvSpPr>
        <p:spPr>
          <a:xfrm>
            <a:off x="8077200" y="4394200"/>
            <a:ext cx="3429000" cy="104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9BA843-F557-D117-46F5-E67C8D543B70}"/>
              </a:ext>
            </a:extLst>
          </p:cNvPr>
          <p:cNvSpPr txBox="1"/>
          <p:nvPr/>
        </p:nvSpPr>
        <p:spPr>
          <a:xfrm>
            <a:off x="8255000" y="4546600"/>
            <a:ext cx="1460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EXPORT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03199-042F-73B6-A951-50A86660F9DA}"/>
              </a:ext>
            </a:extLst>
          </p:cNvPr>
          <p:cNvSpPr txBox="1"/>
          <p:nvPr/>
        </p:nvSpPr>
        <p:spPr>
          <a:xfrm>
            <a:off x="8255000" y="4813300"/>
            <a:ext cx="302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Calibri" panose="020F0502020204030204" pitchFamily="34" charset="0"/>
              </a:rPr>
              <a:t>Searchable PDF + provenance JSON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BC6BAA-B5D2-4069-DB33-30AAF2719FE5}"/>
              </a:ext>
            </a:extLst>
          </p:cNvPr>
          <p:cNvSpPr txBox="1"/>
          <p:nvPr/>
        </p:nvSpPr>
        <p:spPr>
          <a:xfrm>
            <a:off x="10414000" y="4533900"/>
            <a:ext cx="8636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50" b="1">
                <a:solidFill>
                  <a:srgbClr val="1F7469"/>
                </a:solidFill>
                <a:latin typeface="Courier New" panose="02070309020205020404" pitchFamily="49" charset="0"/>
              </a:rPr>
              <a:t>READY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84A1DE-D14F-1303-18B5-B98AE6552D8F}"/>
              </a:ext>
            </a:extLst>
          </p:cNvPr>
          <p:cNvSpPr txBox="1"/>
          <p:nvPr/>
        </p:nvSpPr>
        <p:spPr>
          <a:xfrm>
            <a:off x="609600" y="5829300"/>
            <a:ext cx="10972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Neo4j enhances persistent graph retrieval when Docker is running; the pipeline still constructs a local document graph without it.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9792EF7-0D0C-F7F2-0513-61E7DC8EE12F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E48CE0B-3EBC-EB72-E272-8C5E9389B031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8B89DE-683A-2E39-4E38-5044C0D71FEF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21942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A03EC-2E1D-6013-6D91-9CBE146EFFC0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EVALUATION FRAMEWORK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C592B-5D27-906C-5BB7-6A236827FF6C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Reference-free quality score uses transparent, renormalized weights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31EBAB-8AB8-F295-96B9-A3D6B4D535AC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76CABB-CD7B-CF53-1CA8-5BA57FE2E7F0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08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6A4697C-9A73-8ABF-513B-3040795C0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577290"/>
              </p:ext>
            </p:extLst>
          </p:nvPr>
        </p:nvGraphicFramePr>
        <p:xfrm>
          <a:off x="698500" y="1803400"/>
          <a:ext cx="70485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34CECB-F6BD-B057-AD7B-EEF3BC2CE211}"/>
              </a:ext>
            </a:extLst>
          </p:cNvPr>
          <p:cNvSpPr/>
          <p:nvPr/>
        </p:nvSpPr>
        <p:spPr>
          <a:xfrm>
            <a:off x="8255000" y="1905000"/>
            <a:ext cx="3327400" cy="177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BE8BE5-F404-661A-B709-85A74D3B1DAE}"/>
              </a:ext>
            </a:extLst>
          </p:cNvPr>
          <p:cNvSpPr/>
          <p:nvPr/>
        </p:nvSpPr>
        <p:spPr>
          <a:xfrm>
            <a:off x="8255000" y="1905000"/>
            <a:ext cx="76200" cy="17780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FF37C-C50F-29AB-71F7-A9391506D30D}"/>
              </a:ext>
            </a:extLst>
          </p:cNvPr>
          <p:cNvSpPr txBox="1"/>
          <p:nvPr/>
        </p:nvSpPr>
        <p:spPr>
          <a:xfrm>
            <a:off x="8483600" y="2082800"/>
            <a:ext cx="292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ACTIVE MODE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BDBBC1-C36F-9B71-553C-07A8A1C97F78}"/>
              </a:ext>
            </a:extLst>
          </p:cNvPr>
          <p:cNvSpPr txBox="1"/>
          <p:nvPr/>
        </p:nvSpPr>
        <p:spPr>
          <a:xfrm>
            <a:off x="8483600" y="2362200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Without ground truth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FBD9C-A902-6A8F-1CA6-3096AA7B2964}"/>
              </a:ext>
            </a:extLst>
          </p:cNvPr>
          <p:cNvSpPr txBox="1"/>
          <p:nvPr/>
        </p:nvSpPr>
        <p:spPr>
          <a:xfrm>
            <a:off x="8483600" y="2794000"/>
            <a:ext cx="2895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Unavailable CER/WER terms are removed and the remaining configured weights are renormalized to 100%.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0EB7BD-C563-5342-DF2F-5E6F807C940C}"/>
              </a:ext>
            </a:extLst>
          </p:cNvPr>
          <p:cNvSpPr/>
          <p:nvPr/>
        </p:nvSpPr>
        <p:spPr>
          <a:xfrm>
            <a:off x="8255000" y="4013200"/>
            <a:ext cx="33274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023BF8-2C86-E0D4-2D02-98E52E2BA4EF}"/>
              </a:ext>
            </a:extLst>
          </p:cNvPr>
          <p:cNvSpPr/>
          <p:nvPr/>
        </p:nvSpPr>
        <p:spPr>
          <a:xfrm>
            <a:off x="8255000" y="4013200"/>
            <a:ext cx="76200" cy="1676400"/>
          </a:xfrm>
          <a:prstGeom prst="roundRect">
            <a:avLst/>
          </a:prstGeom>
          <a:solidFill>
            <a:srgbClr val="E5A124"/>
          </a:solidFill>
          <a:ln w="10160">
            <a:solidFill>
              <a:srgbClr val="E5A1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5D426A-89B8-CE0B-666B-6E5381F90C4D}"/>
              </a:ext>
            </a:extLst>
          </p:cNvPr>
          <p:cNvSpPr txBox="1"/>
          <p:nvPr/>
        </p:nvSpPr>
        <p:spPr>
          <a:xfrm>
            <a:off x="8483600" y="4191000"/>
            <a:ext cx="292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Tahoma" panose="020B0604030504040204" pitchFamily="34" charset="0"/>
              </a:rPr>
              <a:t>CLASSIFICATION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B2283-797E-E318-C3E0-5CF3A8E0D2B7}"/>
              </a:ext>
            </a:extLst>
          </p:cNvPr>
          <p:cNvSpPr txBox="1"/>
          <p:nvPr/>
        </p:nvSpPr>
        <p:spPr>
          <a:xfrm>
            <a:off x="8483600" y="4470400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Quality bands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19B185-C628-D828-32DE-9FB9BA8CE5D9}"/>
              </a:ext>
            </a:extLst>
          </p:cNvPr>
          <p:cNvSpPr txBox="1"/>
          <p:nvPr/>
        </p:nvSpPr>
        <p:spPr>
          <a:xfrm>
            <a:off x="8483600" y="4902200"/>
            <a:ext cx="2895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High &gt;= 90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Medium 75-89.99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Low &lt; 75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4A4DB18-CB4F-430F-1C08-DC0409FB15AF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8F08886-0E80-338C-9C2C-B66065AC84EC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E7F430-9FEA-578C-BFC1-7B7BB7B6E148}"/>
              </a:ext>
            </a:extLst>
          </p:cNvPr>
          <p:cNvSpPr txBox="1"/>
          <p:nvPr/>
        </p:nvSpPr>
        <p:spPr>
          <a:xfrm>
            <a:off x="4445000" y="6502400"/>
            <a:ext cx="6477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50">
                <a:solidFill>
                  <a:srgbClr val="56686E"/>
                </a:solidFill>
                <a:latin typeface="Calibri" panose="020F0502020204030204" pitchFamily="34" charset="0"/>
              </a:rPr>
              <a:t>Source: backend/evaluation_config.json + evaluation report</a:t>
            </a:r>
            <a:endParaRPr lang="en-IN" sz="6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05DC70-0939-81D0-2680-146666805E8E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8728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51B3F9-2BCB-E342-59E4-69E7D5A92DA6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SCORING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FEA10-4100-E6EF-4E52-743CA73D4E23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Quality calculation and missing-data policy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913C89-A519-8334-3EAC-9B3B80C7DB04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C2C712E-5943-4658-44F6-1907C519E94E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4A4F86-43B6-EE53-ECEC-A946336989B2}"/>
              </a:ext>
            </a:extLst>
          </p:cNvPr>
          <p:cNvSpPr/>
          <p:nvPr/>
        </p:nvSpPr>
        <p:spPr>
          <a:xfrm>
            <a:off x="889000" y="1879600"/>
            <a:ext cx="10414000" cy="1270000"/>
          </a:xfrm>
          <a:prstGeom prst="roundRect">
            <a:avLst/>
          </a:prstGeom>
          <a:solidFill>
            <a:srgbClr val="0E1728"/>
          </a:solidFill>
          <a:ln w="10160">
            <a:solidFill>
              <a:srgbClr val="0E1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1AF84-2B54-6D67-11B9-5A1DA57B6E15}"/>
              </a:ext>
            </a:extLst>
          </p:cNvPr>
          <p:cNvSpPr txBox="1"/>
          <p:nvPr/>
        </p:nvSpPr>
        <p:spPr>
          <a:xfrm>
            <a:off x="1206500" y="22733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2400" b="1">
                <a:solidFill>
                  <a:srgbClr val="FFFFFF"/>
                </a:solidFill>
                <a:latin typeface="Tahoma" panose="020B0604030504040204" pitchFamily="34" charset="0"/>
              </a:rPr>
              <a:t>Q = 100 x SUM(w_i x m_i) / SUM(w_i active)</a:t>
            </a:r>
            <a:endParaRPr lang="en-IN" sz="2400" b="1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296234-D160-CD56-030B-0AF05E635A87}"/>
              </a:ext>
            </a:extLst>
          </p:cNvPr>
          <p:cNvSpPr/>
          <p:nvPr/>
        </p:nvSpPr>
        <p:spPr>
          <a:xfrm>
            <a:off x="889000" y="3556000"/>
            <a:ext cx="3175000" cy="187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4D640F-014A-7013-92E1-18F471A08350}"/>
              </a:ext>
            </a:extLst>
          </p:cNvPr>
          <p:cNvSpPr/>
          <p:nvPr/>
        </p:nvSpPr>
        <p:spPr>
          <a:xfrm>
            <a:off x="889000" y="3556000"/>
            <a:ext cx="76200" cy="1879600"/>
          </a:xfrm>
          <a:prstGeom prst="roundRect">
            <a:avLst/>
          </a:prstGeom>
          <a:solidFill>
            <a:srgbClr val="BE4A45"/>
          </a:solidFill>
          <a:ln w="10160">
            <a:solidFill>
              <a:srgbClr val="BE4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D3157-24A9-5581-C01A-41935B35C914}"/>
              </a:ext>
            </a:extLst>
          </p:cNvPr>
          <p:cNvSpPr txBox="1"/>
          <p:nvPr/>
        </p:nvSpPr>
        <p:spPr>
          <a:xfrm>
            <a:off x="1117600" y="3733800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BE4A45"/>
                </a:solidFill>
                <a:latin typeface="Tahoma" panose="020B0604030504040204" pitchFamily="34" charset="0"/>
              </a:rPr>
              <a:t>RULE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39FC3A-0EBD-C222-BC4C-4764063BF2C6}"/>
              </a:ext>
            </a:extLst>
          </p:cNvPr>
          <p:cNvSpPr txBox="1"/>
          <p:nvPr/>
        </p:nvSpPr>
        <p:spPr>
          <a:xfrm>
            <a:off x="1117600" y="4013200"/>
            <a:ext cx="274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No fabricated metrics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E88A4E-1DA8-0B90-7DCA-23117F650581}"/>
              </a:ext>
            </a:extLst>
          </p:cNvPr>
          <p:cNvSpPr txBox="1"/>
          <p:nvPr/>
        </p:nvSpPr>
        <p:spPr>
          <a:xfrm>
            <a:off x="1117600" y="4445000"/>
            <a:ext cx="2743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CER and WER remain unavailable when verified transcription is absent.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8FDE1F-BAD0-E9D2-4854-4DF7744EC6B9}"/>
              </a:ext>
            </a:extLst>
          </p:cNvPr>
          <p:cNvSpPr/>
          <p:nvPr/>
        </p:nvSpPr>
        <p:spPr>
          <a:xfrm>
            <a:off x="4508500" y="3556000"/>
            <a:ext cx="3175000" cy="187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37F645-1EB2-F234-FFDA-70EBA3910C19}"/>
              </a:ext>
            </a:extLst>
          </p:cNvPr>
          <p:cNvSpPr/>
          <p:nvPr/>
        </p:nvSpPr>
        <p:spPr>
          <a:xfrm>
            <a:off x="4508500" y="3556000"/>
            <a:ext cx="76200" cy="18796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C5BE9-4576-7FE9-5E84-DF482AF804E7}"/>
              </a:ext>
            </a:extLst>
          </p:cNvPr>
          <p:cNvSpPr txBox="1"/>
          <p:nvPr/>
        </p:nvSpPr>
        <p:spPr>
          <a:xfrm>
            <a:off x="4737100" y="3733800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RULE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0C0613-BAC6-59FA-D724-6B7F13C85A88}"/>
              </a:ext>
            </a:extLst>
          </p:cNvPr>
          <p:cNvSpPr txBox="1"/>
          <p:nvPr/>
        </p:nvSpPr>
        <p:spPr>
          <a:xfrm>
            <a:off x="4737100" y="4013200"/>
            <a:ext cx="274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Dynamic recomputation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D0AE53-D8D2-1662-EEA3-E00439D28B51}"/>
              </a:ext>
            </a:extLst>
          </p:cNvPr>
          <p:cNvSpPr txBox="1"/>
          <p:nvPr/>
        </p:nvSpPr>
        <p:spPr>
          <a:xfrm>
            <a:off x="4737100" y="4445000"/>
            <a:ext cx="2743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Every evaluation creates a new ID and recalculates metrics and charts.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D48E2B-8927-3C55-52A4-F8625E8C8EBC}"/>
              </a:ext>
            </a:extLst>
          </p:cNvPr>
          <p:cNvSpPr/>
          <p:nvPr/>
        </p:nvSpPr>
        <p:spPr>
          <a:xfrm>
            <a:off x="8128000" y="3556000"/>
            <a:ext cx="3175000" cy="187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0438DEB-A00D-9D2F-2466-3A346B5AFFE5}"/>
              </a:ext>
            </a:extLst>
          </p:cNvPr>
          <p:cNvSpPr/>
          <p:nvPr/>
        </p:nvSpPr>
        <p:spPr>
          <a:xfrm>
            <a:off x="8128000" y="3556000"/>
            <a:ext cx="76200" cy="18796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55C18C-26BE-4F4B-EBC9-6941ACC37022}"/>
              </a:ext>
            </a:extLst>
          </p:cNvPr>
          <p:cNvSpPr txBox="1"/>
          <p:nvPr/>
        </p:nvSpPr>
        <p:spPr>
          <a:xfrm>
            <a:off x="8356600" y="3733800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RULE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2A8001-60EA-A886-86D3-C6426276B635}"/>
              </a:ext>
            </a:extLst>
          </p:cNvPr>
          <p:cNvSpPr txBox="1"/>
          <p:nvPr/>
        </p:nvSpPr>
        <p:spPr>
          <a:xfrm>
            <a:off x="8356600" y="4013200"/>
            <a:ext cx="274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Traceable inputs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300EB0-AE14-4D9F-8AD6-F6F2DE1636F4}"/>
              </a:ext>
            </a:extLst>
          </p:cNvPr>
          <p:cNvSpPr txBox="1"/>
          <p:nvPr/>
        </p:nvSpPr>
        <p:spPr>
          <a:xfrm>
            <a:off x="8356600" y="4445000"/>
            <a:ext cx="2743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Input signatures and per-document SHA-256 values preserve reproducibility.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B3DAB8-8BB1-D9A9-9923-FD6A27A81145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0AA44AE-F806-E965-BC6B-40DA93CD9260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233434-4F41-86BA-716D-EED8825F5025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0781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7A8CBB-79D4-8AFE-AA31-688AF23734DC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EVALUATION MODES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07310-A406-7E4B-4521-39C8840F7F9F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The same engine supports evidence-rich and reference-free datasets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C39426-C8DB-142A-EBF8-94C0689A21B3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319ACB6-7260-1C02-B3FB-00FFC1156EF4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128F21-D1BE-9944-FEEF-C231E937EC7B}"/>
              </a:ext>
            </a:extLst>
          </p:cNvPr>
          <p:cNvSpPr/>
          <p:nvPr/>
        </p:nvSpPr>
        <p:spPr>
          <a:xfrm>
            <a:off x="762000" y="1905000"/>
            <a:ext cx="4953000" cy="3365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E7E59C-8772-2A2F-EE88-B2E1C7BFD54B}"/>
              </a:ext>
            </a:extLst>
          </p:cNvPr>
          <p:cNvSpPr/>
          <p:nvPr/>
        </p:nvSpPr>
        <p:spPr>
          <a:xfrm>
            <a:off x="762000" y="1905000"/>
            <a:ext cx="76200" cy="33655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51177-72AC-7788-4C2B-7C156BA25D77}"/>
              </a:ext>
            </a:extLst>
          </p:cNvPr>
          <p:cNvSpPr txBox="1"/>
          <p:nvPr/>
        </p:nvSpPr>
        <p:spPr>
          <a:xfrm>
            <a:off x="990600" y="2082800"/>
            <a:ext cx="4546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MODE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8F1CF-5A9D-C078-6B19-545B9E1D8C9D}"/>
              </a:ext>
            </a:extLst>
          </p:cNvPr>
          <p:cNvSpPr txBox="1"/>
          <p:nvPr/>
        </p:nvSpPr>
        <p:spPr>
          <a:xfrm>
            <a:off x="990600" y="2362200"/>
            <a:ext cx="4521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With verified ground truth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505F2-BD92-D2B9-27DE-61BDB39E835B}"/>
              </a:ext>
            </a:extLst>
          </p:cNvPr>
          <p:cNvSpPr txBox="1"/>
          <p:nvPr/>
        </p:nvSpPr>
        <p:spPr>
          <a:xfrm>
            <a:off x="990600" y="2794000"/>
            <a:ext cx="4521200" cy="8079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Character Error Rate (CER)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Word Error Rate (WER)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Before/after improvement when available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Classification metrics when labels exist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All quality components remain active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AB7779-A5E4-482F-0838-F3CEC5369EAC}"/>
              </a:ext>
            </a:extLst>
          </p:cNvPr>
          <p:cNvSpPr/>
          <p:nvPr/>
        </p:nvSpPr>
        <p:spPr>
          <a:xfrm>
            <a:off x="6477000" y="1905000"/>
            <a:ext cx="4953000" cy="3365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44682C-86A7-A9BB-B5EF-81ED02FE8349}"/>
              </a:ext>
            </a:extLst>
          </p:cNvPr>
          <p:cNvSpPr/>
          <p:nvPr/>
        </p:nvSpPr>
        <p:spPr>
          <a:xfrm>
            <a:off x="6477000" y="1905000"/>
            <a:ext cx="76200" cy="33655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B9C885-3B90-8977-EF51-2D7CABD4EF1E}"/>
              </a:ext>
            </a:extLst>
          </p:cNvPr>
          <p:cNvSpPr txBox="1"/>
          <p:nvPr/>
        </p:nvSpPr>
        <p:spPr>
          <a:xfrm>
            <a:off x="6705600" y="2082800"/>
            <a:ext cx="4546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MODE B | CURRENT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A083D1-4731-9896-3B33-853F907840DC}"/>
              </a:ext>
            </a:extLst>
          </p:cNvPr>
          <p:cNvSpPr txBox="1"/>
          <p:nvPr/>
        </p:nvSpPr>
        <p:spPr>
          <a:xfrm>
            <a:off x="6705600" y="2362200"/>
            <a:ext cx="4521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Without ground truth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D8C67E-56A4-51B4-B812-FCD6D32D1CA8}"/>
              </a:ext>
            </a:extLst>
          </p:cNvPr>
          <p:cNvSpPr txBox="1"/>
          <p:nvPr/>
        </p:nvSpPr>
        <p:spPr>
          <a:xfrm>
            <a:off x="6705600" y="2794000"/>
            <a:ext cx="4521200" cy="8079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OCR confidence where available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Valid-word and dictionary ratios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Noise and artifact cleanliness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Language and structural consistency</a:t>
            </a:r>
          </a:p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CER/WER explicitly shown as unavailable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207D8F-ED31-51AC-4C86-62648C359A60}"/>
              </a:ext>
            </a:extLst>
          </p:cNvPr>
          <p:cNvSpPr txBox="1"/>
          <p:nvPr/>
        </p:nvSpPr>
        <p:spPr>
          <a:xfrm>
            <a:off x="762000" y="57023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E5A124"/>
                </a:solidFill>
                <a:latin typeface="Calibri" panose="020F0502020204030204" pitchFamily="34" charset="0"/>
              </a:rPr>
              <a:t>Current review results use Mode B; this limitation is shown on every results slide.</a:t>
            </a:r>
            <a:endParaRPr lang="en-IN" sz="1200" b="1">
              <a:solidFill>
                <a:srgbClr val="E5A124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2E0BC6-CA40-DCEF-F2EF-3A1C8BED63F8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069B7A-F533-47EB-DA32-4E5E1398F488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162BFA-CFCA-F668-DD8C-A10165FEB036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64928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CC3150-8307-1ACB-7454-AC34F60035D1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METRIC DEFINITIONS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6ED4C-448C-71CE-0966-EA877DB8F2BE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What the evaluation engine actually measures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0AAC3E-C961-3DB5-4B72-9D76DC554036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7925922-9C1F-A4FD-CAF1-213069A0E7AD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D0B07D-A779-505E-6901-D05A8FA42798}"/>
              </a:ext>
            </a:extLst>
          </p:cNvPr>
          <p:cNvSpPr/>
          <p:nvPr/>
        </p:nvSpPr>
        <p:spPr>
          <a:xfrm>
            <a:off x="609600" y="17526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4E1A8-FA46-35B4-D8A0-E5ED0469958E}"/>
              </a:ext>
            </a:extLst>
          </p:cNvPr>
          <p:cNvSpPr txBox="1"/>
          <p:nvPr/>
        </p:nvSpPr>
        <p:spPr>
          <a:xfrm>
            <a:off x="787400" y="19177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OCR confidence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61184-6637-30A9-808C-61BE24918DA9}"/>
              </a:ext>
            </a:extLst>
          </p:cNvPr>
          <p:cNvSpPr txBox="1"/>
          <p:nvPr/>
        </p:nvSpPr>
        <p:spPr>
          <a:xfrm>
            <a:off x="787400" y="22479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Mean token confidence when produced by the OCR engine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22B84C-E389-79AA-A902-1678C2948731}"/>
              </a:ext>
            </a:extLst>
          </p:cNvPr>
          <p:cNvSpPr/>
          <p:nvPr/>
        </p:nvSpPr>
        <p:spPr>
          <a:xfrm>
            <a:off x="4343400" y="17526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F6004E-491A-0DD1-57B3-709A4F8E33D7}"/>
              </a:ext>
            </a:extLst>
          </p:cNvPr>
          <p:cNvSpPr txBox="1"/>
          <p:nvPr/>
        </p:nvSpPr>
        <p:spPr>
          <a:xfrm>
            <a:off x="4521200" y="19177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Valid-word ratio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053AA-3F51-6F66-992C-AEAC9D5644AA}"/>
              </a:ext>
            </a:extLst>
          </p:cNvPr>
          <p:cNvSpPr txBox="1"/>
          <p:nvPr/>
        </p:nvSpPr>
        <p:spPr>
          <a:xfrm>
            <a:off x="4521200" y="22479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Share of extracted words passing lexical validity checks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C8F382-AD15-D257-E7AB-BE96E2C8D69F}"/>
              </a:ext>
            </a:extLst>
          </p:cNvPr>
          <p:cNvSpPr/>
          <p:nvPr/>
        </p:nvSpPr>
        <p:spPr>
          <a:xfrm>
            <a:off x="8077200" y="17526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38AB0-18E8-5D39-1B4A-909ACB0DD8FB}"/>
              </a:ext>
            </a:extLst>
          </p:cNvPr>
          <p:cNvSpPr txBox="1"/>
          <p:nvPr/>
        </p:nvSpPr>
        <p:spPr>
          <a:xfrm>
            <a:off x="8255000" y="19177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Dictionary match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989EE9-898D-7FF2-EFF0-8A512471FB72}"/>
              </a:ext>
            </a:extLst>
          </p:cNvPr>
          <p:cNvSpPr txBox="1"/>
          <p:nvPr/>
        </p:nvSpPr>
        <p:spPr>
          <a:xfrm>
            <a:off x="8255000" y="22479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Share matching the configured English lexicon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A8BF6E-4013-A48C-9BAD-D67B97B7CCAC}"/>
              </a:ext>
            </a:extLst>
          </p:cNvPr>
          <p:cNvSpPr/>
          <p:nvPr/>
        </p:nvSpPr>
        <p:spPr>
          <a:xfrm>
            <a:off x="609600" y="31242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B1D27C-B6B4-7141-9BDD-656178D06102}"/>
              </a:ext>
            </a:extLst>
          </p:cNvPr>
          <p:cNvSpPr txBox="1"/>
          <p:nvPr/>
        </p:nvSpPr>
        <p:spPr>
          <a:xfrm>
            <a:off x="787400" y="32893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Noise cleanliness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47DD26-CD3F-F4B5-0440-6E9F59A826AB}"/>
              </a:ext>
            </a:extLst>
          </p:cNvPr>
          <p:cNvSpPr txBox="1"/>
          <p:nvPr/>
        </p:nvSpPr>
        <p:spPr>
          <a:xfrm>
            <a:off x="787400" y="36195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Penalty for detected noise characters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000A8D-569D-4E4C-D409-53E04F223E63}"/>
              </a:ext>
            </a:extLst>
          </p:cNvPr>
          <p:cNvSpPr/>
          <p:nvPr/>
        </p:nvSpPr>
        <p:spPr>
          <a:xfrm>
            <a:off x="4343400" y="31242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253847-E605-126E-DD4C-2453467216A3}"/>
              </a:ext>
            </a:extLst>
          </p:cNvPr>
          <p:cNvSpPr txBox="1"/>
          <p:nvPr/>
        </p:nvSpPr>
        <p:spPr>
          <a:xfrm>
            <a:off x="4521200" y="32893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Artifact cleanliness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57EC4-439E-F66B-CB41-C933045D4085}"/>
              </a:ext>
            </a:extLst>
          </p:cNvPr>
          <p:cNvSpPr txBox="1"/>
          <p:nvPr/>
        </p:nvSpPr>
        <p:spPr>
          <a:xfrm>
            <a:off x="4521200" y="36195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Penalty for repeated-character OCR artifacts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F3864D-54A6-A78F-CDEF-4C13C452CB06}"/>
              </a:ext>
            </a:extLst>
          </p:cNvPr>
          <p:cNvSpPr/>
          <p:nvPr/>
        </p:nvSpPr>
        <p:spPr>
          <a:xfrm>
            <a:off x="8077200" y="31242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F1ECBB-62F5-575B-D6C4-A6E2565E3A61}"/>
              </a:ext>
            </a:extLst>
          </p:cNvPr>
          <p:cNvSpPr txBox="1"/>
          <p:nvPr/>
        </p:nvSpPr>
        <p:spPr>
          <a:xfrm>
            <a:off x="8255000" y="32893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Language consistency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1F77B7-6559-EDC4-25E0-24C16710E33F}"/>
              </a:ext>
            </a:extLst>
          </p:cNvPr>
          <p:cNvSpPr txBox="1"/>
          <p:nvPr/>
        </p:nvSpPr>
        <p:spPr>
          <a:xfrm>
            <a:off x="8255000" y="36195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Probability that extracted text is English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688B15-D906-029B-A0B2-4A0A1C096DB6}"/>
              </a:ext>
            </a:extLst>
          </p:cNvPr>
          <p:cNvSpPr/>
          <p:nvPr/>
        </p:nvSpPr>
        <p:spPr>
          <a:xfrm>
            <a:off x="609600" y="44958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3147B1-9595-8CB3-C978-360B41526A26}"/>
              </a:ext>
            </a:extLst>
          </p:cNvPr>
          <p:cNvSpPr txBox="1"/>
          <p:nvPr/>
        </p:nvSpPr>
        <p:spPr>
          <a:xfrm>
            <a:off x="787400" y="46609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Structural consistency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394860-ED35-9E1A-B6A2-D18D73BCAD44}"/>
              </a:ext>
            </a:extLst>
          </p:cNvPr>
          <p:cNvSpPr txBox="1"/>
          <p:nvPr/>
        </p:nvSpPr>
        <p:spPr>
          <a:xfrm>
            <a:off x="787400" y="49911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Bounding-box, fragmentation, balance and line coherence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F89FB7-B8FB-8A95-AFE2-5F10F8420BC1}"/>
              </a:ext>
            </a:extLst>
          </p:cNvPr>
          <p:cNvSpPr/>
          <p:nvPr/>
        </p:nvSpPr>
        <p:spPr>
          <a:xfrm>
            <a:off x="4343400" y="44958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E4F531-5D5F-44FB-02A7-EBC0F7ABA39A}"/>
              </a:ext>
            </a:extLst>
          </p:cNvPr>
          <p:cNvSpPr txBox="1"/>
          <p:nvPr/>
        </p:nvSpPr>
        <p:spPr>
          <a:xfrm>
            <a:off x="4521200" y="46609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Symbol cleanliness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F53E89-F25E-B063-1A4F-F9B96C789B00}"/>
              </a:ext>
            </a:extLst>
          </p:cNvPr>
          <p:cNvSpPr txBox="1"/>
          <p:nvPr/>
        </p:nvSpPr>
        <p:spPr>
          <a:xfrm>
            <a:off x="4521200" y="49911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Penalty for excessive non-alphanumeric symbols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7CA6B28-901E-B095-D0EE-86A6FCC48753}"/>
              </a:ext>
            </a:extLst>
          </p:cNvPr>
          <p:cNvSpPr/>
          <p:nvPr/>
        </p:nvSpPr>
        <p:spPr>
          <a:xfrm>
            <a:off x="8077200" y="4495800"/>
            <a:ext cx="3429000" cy="111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6DA400-6239-97E5-F879-6DB24EAF63E3}"/>
              </a:ext>
            </a:extLst>
          </p:cNvPr>
          <p:cNvSpPr txBox="1"/>
          <p:nvPr/>
        </p:nvSpPr>
        <p:spPr>
          <a:xfrm>
            <a:off x="8255000" y="4660900"/>
            <a:ext cx="304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F7469"/>
                </a:solidFill>
                <a:latin typeface="Tahoma" panose="020B0604030504040204" pitchFamily="34" charset="0"/>
              </a:rPr>
              <a:t>Density quality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474E33-2BC3-0C33-F1A2-2C5B84839165}"/>
              </a:ext>
            </a:extLst>
          </p:cNvPr>
          <p:cNvSpPr txBox="1"/>
          <p:nvPr/>
        </p:nvSpPr>
        <p:spPr>
          <a:xfrm>
            <a:off x="8255000" y="4991100"/>
            <a:ext cx="304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>
                <a:solidFill>
                  <a:srgbClr val="56686E"/>
                </a:solidFill>
                <a:latin typeface="Calibri" panose="020F0502020204030204" pitchFamily="34" charset="0"/>
              </a:rPr>
              <a:t>Characters per megapixel within expected bounds</a:t>
            </a:r>
            <a:endParaRPr lang="en-IN" sz="9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F26A2F-E77D-2A05-A5ED-50C17D179C36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C6075D6-3151-60E0-4B7A-9CE9DF3E7B48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0A9D64-38F8-AB55-21FD-D1BCEAE83619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91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703269-4DF4-E0A3-3736-E13960FDE611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LIVE IMPLEMENTATION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92D46-2CC2-52CF-877C-4A89C5DA52DD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2500" b="1">
                <a:solidFill>
                  <a:srgbClr val="0A1C25"/>
                </a:solidFill>
                <a:latin typeface="Tahoma" panose="020B0604030504040204" pitchFamily="34" charset="0"/>
              </a:rPr>
              <a:t>Actual website readiness snapshot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4EBBFD-0A04-12A6-0618-7A723AD2A8F7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B39B6C8-1D66-49B5-8384-585B38C7388A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1C5947-ABF5-636C-6AB8-D2BD680FCB4C}"/>
              </a:ext>
            </a:extLst>
          </p:cNvPr>
          <p:cNvSpPr/>
          <p:nvPr/>
        </p:nvSpPr>
        <p:spPr>
          <a:xfrm>
            <a:off x="584200" y="1689100"/>
            <a:ext cx="7670800" cy="43307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8438FA-6FF1-79F0-83E5-2772B89DE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45" y="1714500"/>
            <a:ext cx="7608711" cy="42799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532CFE-00C5-ECC6-BC41-CBAD11AC4E9E}"/>
              </a:ext>
            </a:extLst>
          </p:cNvPr>
          <p:cNvSpPr/>
          <p:nvPr/>
        </p:nvSpPr>
        <p:spPr>
          <a:xfrm>
            <a:off x="8636000" y="1841500"/>
            <a:ext cx="2946400" cy="152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6548B0-5A5F-DB0C-4C73-9C3DB8506162}"/>
              </a:ext>
            </a:extLst>
          </p:cNvPr>
          <p:cNvSpPr/>
          <p:nvPr/>
        </p:nvSpPr>
        <p:spPr>
          <a:xfrm>
            <a:off x="8636000" y="1841500"/>
            <a:ext cx="76200" cy="15240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343E0-43D1-4A32-7218-4714478C0BD9}"/>
              </a:ext>
            </a:extLst>
          </p:cNvPr>
          <p:cNvSpPr txBox="1"/>
          <p:nvPr/>
        </p:nvSpPr>
        <p:spPr>
          <a:xfrm>
            <a:off x="8864600" y="2019300"/>
            <a:ext cx="254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READY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E57AA8-2529-9113-ABAA-9BF95ED262B8}"/>
              </a:ext>
            </a:extLst>
          </p:cNvPr>
          <p:cNvSpPr txBox="1"/>
          <p:nvPr/>
        </p:nvSpPr>
        <p:spPr>
          <a:xfrm>
            <a:off x="8864600" y="2298700"/>
            <a:ext cx="2514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Core local pipeline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E3662-D300-3A63-9D3B-212C41905538}"/>
              </a:ext>
            </a:extLst>
          </p:cNvPr>
          <p:cNvSpPr txBox="1"/>
          <p:nvPr/>
        </p:nvSpPr>
        <p:spPr>
          <a:xfrm>
            <a:off x="8864600" y="2730500"/>
            <a:ext cx="2514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FastAPI, PaddleOCR, DocLayout-YOLO, BGE-M3, FAISS and Qwen are detected by the live application.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6FE31A-231A-FC4F-9A7C-02BD51DD9569}"/>
              </a:ext>
            </a:extLst>
          </p:cNvPr>
          <p:cNvSpPr/>
          <p:nvPr/>
        </p:nvSpPr>
        <p:spPr>
          <a:xfrm>
            <a:off x="8636000" y="3632200"/>
            <a:ext cx="29464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4DCD88-ED46-FBDF-31A7-A9366AB267DA}"/>
              </a:ext>
            </a:extLst>
          </p:cNvPr>
          <p:cNvSpPr/>
          <p:nvPr/>
        </p:nvSpPr>
        <p:spPr>
          <a:xfrm>
            <a:off x="8636000" y="3632200"/>
            <a:ext cx="76200" cy="1676400"/>
          </a:xfrm>
          <a:prstGeom prst="roundRect">
            <a:avLst/>
          </a:prstGeom>
          <a:solidFill>
            <a:srgbClr val="E5A124"/>
          </a:solidFill>
          <a:ln w="10160">
            <a:solidFill>
              <a:srgbClr val="E5A1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F45CD8-D0E4-623E-900C-468E86513FFC}"/>
              </a:ext>
            </a:extLst>
          </p:cNvPr>
          <p:cNvSpPr txBox="1"/>
          <p:nvPr/>
        </p:nvSpPr>
        <p:spPr>
          <a:xfrm>
            <a:off x="8864600" y="3810000"/>
            <a:ext cx="254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Tahoma" panose="020B0604030504040204" pitchFamily="34" charset="0"/>
              </a:rPr>
              <a:t>OPTIONAL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155381-838B-E6EB-B915-70C36F0CDBA3}"/>
              </a:ext>
            </a:extLst>
          </p:cNvPr>
          <p:cNvSpPr txBox="1"/>
          <p:nvPr/>
        </p:nvSpPr>
        <p:spPr>
          <a:xfrm>
            <a:off x="8864600" y="4089400"/>
            <a:ext cx="2514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Neo4j via Docker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AEFC32-757E-E49F-B4F0-21B647C9C4BA}"/>
              </a:ext>
            </a:extLst>
          </p:cNvPr>
          <p:cNvSpPr txBox="1"/>
          <p:nvPr/>
        </p:nvSpPr>
        <p:spPr>
          <a:xfrm>
            <a:off x="8864600" y="4521200"/>
            <a:ext cx="2514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Unavailable in this capture because Docker Desktop was not running. The in-memory document graph remains available.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5521A8-D640-D2A6-0907-1DAC238D1031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6D3A58A-3149-0EFD-CDF1-FF50AB9475C3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B54F69-FE51-278C-A06B-A10665F3072C}"/>
              </a:ext>
            </a:extLst>
          </p:cNvPr>
          <p:cNvSpPr txBox="1"/>
          <p:nvPr/>
        </p:nvSpPr>
        <p:spPr>
          <a:xfrm>
            <a:off x="4445000" y="6502400"/>
            <a:ext cx="6477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650">
                <a:solidFill>
                  <a:srgbClr val="56686E"/>
                </a:solidFill>
                <a:latin typeface="Calibri" panose="020F0502020204030204" pitchFamily="34" charset="0"/>
              </a:rPr>
              <a:t>Actual capture: 14 Sep 2026 | localhost application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C90DF-4FEF-B2EE-B166-F5930E1F879F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45476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564372-5C90-958E-779A-E4FFCC4EAD7B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REAL CORRECTION TRACE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C643C-3346-11E6-8E85-A0393C5779C7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Low-confidence detection -&gt; local Qwen selection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797EB2-1C1B-F160-0BF7-39F2DDA99236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BF9383-E527-D2C8-B7AC-61A43B8BAF78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646D84-C71D-35AC-66B0-5BCE87CA0745}"/>
              </a:ext>
            </a:extLst>
          </p:cNvPr>
          <p:cNvSpPr/>
          <p:nvPr/>
        </p:nvSpPr>
        <p:spPr>
          <a:xfrm>
            <a:off x="508000" y="1651000"/>
            <a:ext cx="5448300" cy="30861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881F79-A7A8-E8FA-7183-7E58BA4F13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06" y="1676400"/>
            <a:ext cx="5396089" cy="30353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8556AB-7312-E6F4-DF5A-A2485A472561}"/>
              </a:ext>
            </a:extLst>
          </p:cNvPr>
          <p:cNvSpPr/>
          <p:nvPr/>
        </p:nvSpPr>
        <p:spPr>
          <a:xfrm>
            <a:off x="6235700" y="1651000"/>
            <a:ext cx="5448300" cy="30861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7423AE-8031-CA91-D7E9-9F1F39CC34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805" y="1676400"/>
            <a:ext cx="5396089" cy="3035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38A19B-0D74-8F4C-31A6-DDF34107661E}"/>
              </a:ext>
            </a:extLst>
          </p:cNvPr>
          <p:cNvSpPr txBox="1"/>
          <p:nvPr/>
        </p:nvSpPr>
        <p:spPr>
          <a:xfrm>
            <a:off x="533400" y="4940300"/>
            <a:ext cx="1143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Tahoma" panose="020B0604030504040204" pitchFamily="34" charset="0"/>
              </a:rPr>
              <a:t>DETECTION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59101-1D63-9828-BAAD-C41D58D46E8A}"/>
              </a:ext>
            </a:extLst>
          </p:cNvPr>
          <p:cNvSpPr txBox="1"/>
          <p:nvPr/>
        </p:nvSpPr>
        <p:spPr>
          <a:xfrm>
            <a:off x="1651000" y="49022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100" b="1">
                <a:solidFill>
                  <a:srgbClr val="0A1C25"/>
                </a:solidFill>
                <a:latin typeface="Calibri" panose="020F0502020204030204" pitchFamily="34" charset="0"/>
              </a:rPr>
              <a:t>Threshold 0.900 | 2 selected tokens</a:t>
            </a:r>
            <a:endParaRPr lang="en-IN" sz="11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82FA68-D651-2861-42DC-BCEFB433E7D3}"/>
              </a:ext>
            </a:extLst>
          </p:cNvPr>
          <p:cNvSpPr txBox="1"/>
          <p:nvPr/>
        </p:nvSpPr>
        <p:spPr>
          <a:xfrm>
            <a:off x="6261100" y="4940300"/>
            <a:ext cx="1143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SELECTION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1BCE2-3FA4-32C8-0A33-9D1CC6EEB43A}"/>
              </a:ext>
            </a:extLst>
          </p:cNvPr>
          <p:cNvSpPr txBox="1"/>
          <p:nvPr/>
        </p:nvSpPr>
        <p:spPr>
          <a:xfrm>
            <a:off x="7366000" y="49022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100" b="1">
                <a:solidFill>
                  <a:srgbClr val="0A1C25"/>
                </a:solidFill>
                <a:latin typeface="Calibri" panose="020F0502020204030204" pitchFamily="34" charset="0"/>
              </a:rPr>
              <a:t>2 local Qwen calls | 2 completed</a:t>
            </a:r>
            <a:endParaRPr lang="en-IN" sz="11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E10DEC-7822-C2C0-4DD9-A078B106F5CB}"/>
              </a:ext>
            </a:extLst>
          </p:cNvPr>
          <p:cNvSpPr/>
          <p:nvPr/>
        </p:nvSpPr>
        <p:spPr>
          <a:xfrm>
            <a:off x="1016000" y="5422900"/>
            <a:ext cx="10160000" cy="609600"/>
          </a:xfrm>
          <a:prstGeom prst="roundRect">
            <a:avLst/>
          </a:prstGeom>
          <a:solidFill>
            <a:srgbClr val="E8F4F1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AE30FD-DCAB-875D-992D-95F96FE62994}"/>
              </a:ext>
            </a:extLst>
          </p:cNvPr>
          <p:cNvSpPr txBox="1"/>
          <p:nvPr/>
        </p:nvSpPr>
        <p:spPr>
          <a:xfrm>
            <a:off x="1295400" y="5600700"/>
            <a:ext cx="9601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F7469"/>
                </a:solidFill>
                <a:latin typeface="Courier New" panose="02070309020205020404" pitchFamily="49" charset="0"/>
              </a:rPr>
              <a:t>govemment -&gt; government      |      regulatlon -&gt; regulation      |      both validated and accepted</a:t>
            </a:r>
            <a:endParaRPr lang="en-IN" sz="1200" b="1">
              <a:solidFill>
                <a:srgbClr val="1F7469"/>
              </a:solidFill>
              <a:latin typeface="Courier New" panose="020703090202050204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D732EF-4E49-5155-AD3C-7A39D4D5F04E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78EA9A-09B5-B32B-D305-82E3DC560415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7305CD-C1E4-51C4-F495-E65E03B066F0}"/>
              </a:ext>
            </a:extLst>
          </p:cNvPr>
          <p:cNvSpPr txBox="1"/>
          <p:nvPr/>
        </p:nvSpPr>
        <p:spPr>
          <a:xfrm>
            <a:off x="4445000" y="6502400"/>
            <a:ext cx="6477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650">
                <a:solidFill>
                  <a:srgbClr val="56686E"/>
                </a:solidFill>
                <a:latin typeface="Calibri" panose="020F0502020204030204" pitchFamily="34" charset="0"/>
              </a:rPr>
              <a:t>Actual run: 95c87513-630e-47f2-979d-6864ee489304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555A87-3C2F-32AF-61C0-9B3B43FB6B49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8040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00FEAB-8CC2-B0E0-2791-AF625ADAE784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RESULTS OBTAINED SO FAR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7AEA8-1F9E-B6E0-78D7-803EFEEF9335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Dynamic dataset evaluation - actual current pipeline outputs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2C38D7-1C21-072A-10AE-015530DE53FE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E6A9F7C-311E-E88A-1730-199976228215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1A0F61-7CDD-FDF5-9AEF-BF2192AC40E0}"/>
              </a:ext>
            </a:extLst>
          </p:cNvPr>
          <p:cNvSpPr/>
          <p:nvPr/>
        </p:nvSpPr>
        <p:spPr>
          <a:xfrm>
            <a:off x="609600" y="1752600"/>
            <a:ext cx="24765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B4996-3291-69F8-EB58-E61C48019444}"/>
              </a:ext>
            </a:extLst>
          </p:cNvPr>
          <p:cNvSpPr txBox="1"/>
          <p:nvPr/>
        </p:nvSpPr>
        <p:spPr>
          <a:xfrm>
            <a:off x="762000" y="19177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100" b="1">
                <a:solidFill>
                  <a:srgbClr val="2766C9"/>
                </a:solidFill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44104-BC36-91B2-C88C-5A7EDE8D9C53}"/>
              </a:ext>
            </a:extLst>
          </p:cNvPr>
          <p:cNvSpPr txBox="1"/>
          <p:nvPr/>
        </p:nvSpPr>
        <p:spPr>
          <a:xfrm>
            <a:off x="762000" y="2336800"/>
            <a:ext cx="21717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50" b="1">
                <a:solidFill>
                  <a:srgbClr val="56686E"/>
                </a:solidFill>
                <a:latin typeface="Tahoma" panose="020B0604030504040204" pitchFamily="34" charset="0"/>
              </a:rPr>
              <a:t>DOCUMENTS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A153E9-E356-4A03-8BAD-ECCD4B15348A}"/>
              </a:ext>
            </a:extLst>
          </p:cNvPr>
          <p:cNvSpPr/>
          <p:nvPr/>
        </p:nvSpPr>
        <p:spPr>
          <a:xfrm>
            <a:off x="3378200" y="1752600"/>
            <a:ext cx="24765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2CDF5-7DBF-339E-834C-7C0E5B6CEB3B}"/>
              </a:ext>
            </a:extLst>
          </p:cNvPr>
          <p:cNvSpPr txBox="1"/>
          <p:nvPr/>
        </p:nvSpPr>
        <p:spPr>
          <a:xfrm>
            <a:off x="3530600" y="19177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100" b="1">
                <a:solidFill>
                  <a:srgbClr val="1F7469"/>
                </a:solidFill>
                <a:latin typeface="Tahoma" panose="020B0604030504040204" pitchFamily="34" charset="0"/>
              </a:rPr>
              <a:t>97.39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2DCE8-3C3B-5CBE-E2AE-B866C8A901A1}"/>
              </a:ext>
            </a:extLst>
          </p:cNvPr>
          <p:cNvSpPr txBox="1"/>
          <p:nvPr/>
        </p:nvSpPr>
        <p:spPr>
          <a:xfrm>
            <a:off x="3530600" y="2336800"/>
            <a:ext cx="21717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50" b="1">
                <a:solidFill>
                  <a:srgbClr val="56686E"/>
                </a:solidFill>
                <a:latin typeface="Tahoma" panose="020B0604030504040204" pitchFamily="34" charset="0"/>
              </a:rPr>
              <a:t>AVERAGE QUALITY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D48D37-B445-D609-EF9C-02F31BDF91A5}"/>
              </a:ext>
            </a:extLst>
          </p:cNvPr>
          <p:cNvSpPr/>
          <p:nvPr/>
        </p:nvSpPr>
        <p:spPr>
          <a:xfrm>
            <a:off x="6146800" y="1752600"/>
            <a:ext cx="24765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62BB0F-40AD-B074-D367-F5AC65305F49}"/>
              </a:ext>
            </a:extLst>
          </p:cNvPr>
          <p:cNvSpPr txBox="1"/>
          <p:nvPr/>
        </p:nvSpPr>
        <p:spPr>
          <a:xfrm>
            <a:off x="6299200" y="19177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100" b="1">
                <a:solidFill>
                  <a:srgbClr val="1F7469"/>
                </a:solidFill>
                <a:latin typeface="Tahoma" panose="020B0604030504040204" pitchFamily="34" charset="0"/>
              </a:rPr>
              <a:t>98.00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55800-F555-608E-B9B8-554BA91045F5}"/>
              </a:ext>
            </a:extLst>
          </p:cNvPr>
          <p:cNvSpPr txBox="1"/>
          <p:nvPr/>
        </p:nvSpPr>
        <p:spPr>
          <a:xfrm>
            <a:off x="6299200" y="2336800"/>
            <a:ext cx="21717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50" b="1">
                <a:solidFill>
                  <a:srgbClr val="56686E"/>
                </a:solidFill>
                <a:latin typeface="Tahoma" panose="020B0604030504040204" pitchFamily="34" charset="0"/>
              </a:rPr>
              <a:t>MEDIAN QUALITY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B0A131-2B2A-AFF6-124C-17A591A989AF}"/>
              </a:ext>
            </a:extLst>
          </p:cNvPr>
          <p:cNvSpPr/>
          <p:nvPr/>
        </p:nvSpPr>
        <p:spPr>
          <a:xfrm>
            <a:off x="8915400" y="1752600"/>
            <a:ext cx="24765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428BE1-4FE0-D5DD-A656-3F085A0F7C3C}"/>
              </a:ext>
            </a:extLst>
          </p:cNvPr>
          <p:cNvSpPr txBox="1"/>
          <p:nvPr/>
        </p:nvSpPr>
        <p:spPr>
          <a:xfrm>
            <a:off x="9067800" y="1917700"/>
            <a:ext cx="2171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100" b="1">
                <a:solidFill>
                  <a:srgbClr val="E5A124"/>
                </a:solidFill>
                <a:latin typeface="Tahoma" panose="020B0604030504040204" pitchFamily="34" charset="0"/>
              </a:rPr>
              <a:t>10 / 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DF74E-F807-D459-6AA6-17566F14D44B}"/>
              </a:ext>
            </a:extLst>
          </p:cNvPr>
          <p:cNvSpPr txBox="1"/>
          <p:nvPr/>
        </p:nvSpPr>
        <p:spPr>
          <a:xfrm>
            <a:off x="9067800" y="2336800"/>
            <a:ext cx="21717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50" b="1">
                <a:solidFill>
                  <a:srgbClr val="56686E"/>
                </a:solidFill>
                <a:latin typeface="Tahoma" panose="020B0604030504040204" pitchFamily="34" charset="0"/>
              </a:rPr>
              <a:t>HIGH QUALITY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A44C6B-98AB-96D0-1846-C960D6433946}"/>
              </a:ext>
            </a:extLst>
          </p:cNvPr>
          <p:cNvSpPr/>
          <p:nvPr/>
        </p:nvSpPr>
        <p:spPr>
          <a:xfrm>
            <a:off x="584200" y="2997200"/>
            <a:ext cx="7162800" cy="3251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591D6-FAA1-8A53-FD48-900777ECD0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3022600"/>
            <a:ext cx="5689600" cy="32004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709312-3D26-E051-68A2-A162ABF7EF91}"/>
              </a:ext>
            </a:extLst>
          </p:cNvPr>
          <p:cNvSpPr/>
          <p:nvPr/>
        </p:nvSpPr>
        <p:spPr>
          <a:xfrm>
            <a:off x="8128000" y="3098800"/>
            <a:ext cx="3454400" cy="147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5F4F8C4-EBC3-6C7E-E0B2-2D0AE6391227}"/>
              </a:ext>
            </a:extLst>
          </p:cNvPr>
          <p:cNvSpPr/>
          <p:nvPr/>
        </p:nvSpPr>
        <p:spPr>
          <a:xfrm>
            <a:off x="8128000" y="3098800"/>
            <a:ext cx="76200" cy="1473200"/>
          </a:xfrm>
          <a:prstGeom prst="roundRect">
            <a:avLst/>
          </a:prstGeom>
          <a:solidFill>
            <a:srgbClr val="BE4A45"/>
          </a:solidFill>
          <a:ln w="10160">
            <a:solidFill>
              <a:srgbClr val="BE4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E826D9-3972-31EA-A770-598DDCABF603}"/>
              </a:ext>
            </a:extLst>
          </p:cNvPr>
          <p:cNvSpPr txBox="1"/>
          <p:nvPr/>
        </p:nvSpPr>
        <p:spPr>
          <a:xfrm>
            <a:off x="8356600" y="3276600"/>
            <a:ext cx="304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BE4A45"/>
                </a:solidFill>
                <a:latin typeface="Tahoma" panose="020B0604030504040204" pitchFamily="34" charset="0"/>
              </a:rPr>
              <a:t>DATASET MODE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D56618-CD91-1295-0544-2B9F14B6C621}"/>
              </a:ext>
            </a:extLst>
          </p:cNvPr>
          <p:cNvSpPr txBox="1"/>
          <p:nvPr/>
        </p:nvSpPr>
        <p:spPr>
          <a:xfrm>
            <a:off x="8356600" y="3556000"/>
            <a:ext cx="302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Without ground truth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84FF58-B7DD-8097-DFBE-50963211B0D4}"/>
              </a:ext>
            </a:extLst>
          </p:cNvPr>
          <p:cNvSpPr txBox="1"/>
          <p:nvPr/>
        </p:nvSpPr>
        <p:spPr>
          <a:xfrm>
            <a:off x="8356600" y="3987800"/>
            <a:ext cx="3022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Average CER and WER are unavailable, not estimated, because verified transcriptions were not supplied.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54E5B9C-B124-3AC1-461E-59EE708A3BD1}"/>
              </a:ext>
            </a:extLst>
          </p:cNvPr>
          <p:cNvSpPr/>
          <p:nvPr/>
        </p:nvSpPr>
        <p:spPr>
          <a:xfrm>
            <a:off x="8128000" y="4762500"/>
            <a:ext cx="3454400" cy="1320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E467EB-ED2C-74D4-CA94-19D8B78D8B8C}"/>
              </a:ext>
            </a:extLst>
          </p:cNvPr>
          <p:cNvSpPr/>
          <p:nvPr/>
        </p:nvSpPr>
        <p:spPr>
          <a:xfrm>
            <a:off x="8128000" y="4762500"/>
            <a:ext cx="76200" cy="13208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ABF00A-80E7-C72C-3C92-B8A24C2E8764}"/>
              </a:ext>
            </a:extLst>
          </p:cNvPr>
          <p:cNvSpPr txBox="1"/>
          <p:nvPr/>
        </p:nvSpPr>
        <p:spPr>
          <a:xfrm>
            <a:off x="8356600" y="4940300"/>
            <a:ext cx="304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OUTPUTS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462E82-4BFF-64EF-DB35-36982E30ED27}"/>
              </a:ext>
            </a:extLst>
          </p:cNvPr>
          <p:cNvSpPr txBox="1"/>
          <p:nvPr/>
        </p:nvSpPr>
        <p:spPr>
          <a:xfrm>
            <a:off x="8356600" y="5219700"/>
            <a:ext cx="302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8 regenerated charts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405DDD-DC71-8318-F2B4-02648D07B74A}"/>
              </a:ext>
            </a:extLst>
          </p:cNvPr>
          <p:cNvSpPr txBox="1"/>
          <p:nvPr/>
        </p:nvSpPr>
        <p:spPr>
          <a:xfrm>
            <a:off x="8356600" y="5651500"/>
            <a:ext cx="3022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JSON, CSV, graph source data, SVG charts and an evaluation log are written per evaluation ID.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4ED2C4-2821-CB79-A2F9-4697E9DF66D8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C96A328-72F7-CC49-8FCF-E9FEB718DCA6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D83B86-7BAA-CC91-8220-616261A4FC7B}"/>
              </a:ext>
            </a:extLst>
          </p:cNvPr>
          <p:cNvSpPr txBox="1"/>
          <p:nvPr/>
        </p:nvSpPr>
        <p:spPr>
          <a:xfrm>
            <a:off x="4445000" y="6502400"/>
            <a:ext cx="6477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650">
                <a:solidFill>
                  <a:srgbClr val="56686E"/>
                </a:solidFill>
                <a:latin typeface="Calibri" panose="020F0502020204030204" pitchFamily="34" charset="0"/>
              </a:rPr>
              <a:t>Actual evaluation: 83b4c9f3-ed5a-4f92-9a47-059552d00d9f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E39545-95F8-D061-06B0-2F10311C9CDB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13629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9A69C7-A8FA-19F1-4AD3-5982C7CB5E74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PER-DOCUMENT QUALITY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EDC55-B1C6-E3FF-28C5-6684CA34D72C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Actual scores from the latest completed dataset evaluation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5682F5-AAB3-5812-9BFA-0F9CF779124D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E7EE60-A54A-BF8B-70E8-2A203AEAA8B9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15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6E3DF3F-E6FF-5C3C-A919-D86F7494F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7532091"/>
              </p:ext>
            </p:extLst>
          </p:nvPr>
        </p:nvGraphicFramePr>
        <p:xfrm>
          <a:off x="711200" y="1841500"/>
          <a:ext cx="7747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037A14-837F-940E-88F6-ACF630388DF0}"/>
              </a:ext>
            </a:extLst>
          </p:cNvPr>
          <p:cNvSpPr/>
          <p:nvPr/>
        </p:nvSpPr>
        <p:spPr>
          <a:xfrm>
            <a:off x="8890000" y="1968500"/>
            <a:ext cx="26924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D604B3-B996-C956-C559-21EAAF874003}"/>
              </a:ext>
            </a:extLst>
          </p:cNvPr>
          <p:cNvSpPr/>
          <p:nvPr/>
        </p:nvSpPr>
        <p:spPr>
          <a:xfrm>
            <a:off x="8890000" y="1968500"/>
            <a:ext cx="76200" cy="1676400"/>
          </a:xfrm>
          <a:prstGeom prst="roundRect">
            <a:avLst/>
          </a:prstGeom>
          <a:solidFill>
            <a:srgbClr val="E5A124"/>
          </a:solidFill>
          <a:ln w="10160">
            <a:solidFill>
              <a:srgbClr val="E5A1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A80A2-8DB8-FA78-7A48-E6036D6C3965}"/>
              </a:ext>
            </a:extLst>
          </p:cNvPr>
          <p:cNvSpPr txBox="1"/>
          <p:nvPr/>
        </p:nvSpPr>
        <p:spPr>
          <a:xfrm>
            <a:off x="9118600" y="21463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Tahoma" panose="020B0604030504040204" pitchFamily="34" charset="0"/>
              </a:rPr>
              <a:t>RANGE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05F17-1030-AA12-E098-FAA8807DE97B}"/>
              </a:ext>
            </a:extLst>
          </p:cNvPr>
          <p:cNvSpPr txBox="1"/>
          <p:nvPr/>
        </p:nvSpPr>
        <p:spPr>
          <a:xfrm>
            <a:off x="9118600" y="2425700"/>
            <a:ext cx="226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91.02-98.64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C9ED9D-9C3B-06F6-4A61-084809E0825E}"/>
              </a:ext>
            </a:extLst>
          </p:cNvPr>
          <p:cNvSpPr txBox="1"/>
          <p:nvPr/>
        </p:nvSpPr>
        <p:spPr>
          <a:xfrm>
            <a:off x="9118600" y="2857500"/>
            <a:ext cx="2260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The lowest score is the two-page 23BCE5107 PDF; the demo scan achieved the highest score.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43141D-68BF-985B-E564-0C0DE8C52106}"/>
              </a:ext>
            </a:extLst>
          </p:cNvPr>
          <p:cNvSpPr/>
          <p:nvPr/>
        </p:nvSpPr>
        <p:spPr>
          <a:xfrm>
            <a:off x="8890000" y="3937000"/>
            <a:ext cx="2692400" cy="172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496BCE-8F9A-F713-5507-96D7FFC78FF8}"/>
              </a:ext>
            </a:extLst>
          </p:cNvPr>
          <p:cNvSpPr/>
          <p:nvPr/>
        </p:nvSpPr>
        <p:spPr>
          <a:xfrm>
            <a:off x="8890000" y="3937000"/>
            <a:ext cx="76200" cy="17272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4731E-17D9-CA6A-2DFE-3D9ACE94A816}"/>
              </a:ext>
            </a:extLst>
          </p:cNvPr>
          <p:cNvSpPr txBox="1"/>
          <p:nvPr/>
        </p:nvSpPr>
        <p:spPr>
          <a:xfrm>
            <a:off x="9118600" y="4114800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INTERPRETATION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9B832F-394B-4B02-4814-C66BA5300AD6}"/>
              </a:ext>
            </a:extLst>
          </p:cNvPr>
          <p:cNvSpPr txBox="1"/>
          <p:nvPr/>
        </p:nvSpPr>
        <p:spPr>
          <a:xfrm>
            <a:off x="9118600" y="4394200"/>
            <a:ext cx="226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Score meaning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CC8938-3D81-FE35-F12A-54308E3704B1}"/>
              </a:ext>
            </a:extLst>
          </p:cNvPr>
          <p:cNvSpPr txBox="1"/>
          <p:nvPr/>
        </p:nvSpPr>
        <p:spPr>
          <a:xfrm>
            <a:off x="9118600" y="4826000"/>
            <a:ext cx="2260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Scores reflect consistency and cleanliness indicators, not transcription accuracy against a verified reference.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4510B6-DE97-3C98-F11F-347169CA2C09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F4B41D1-39E3-D0C7-6F76-F88977E93582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9751DF-21D6-4B94-AAD3-419B9AFAD932}"/>
              </a:ext>
            </a:extLst>
          </p:cNvPr>
          <p:cNvSpPr txBox="1"/>
          <p:nvPr/>
        </p:nvSpPr>
        <p:spPr>
          <a:xfrm>
            <a:off x="4445000" y="6502400"/>
            <a:ext cx="6477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50">
                <a:solidFill>
                  <a:srgbClr val="56686E"/>
                </a:solidFill>
                <a:latin typeface="Calibri" panose="020F0502020204030204" pitchFamily="34" charset="0"/>
              </a:rPr>
              <a:t>Source: evaluation report graph_source_data.quality_by_document</a:t>
            </a:r>
            <a:endParaRPr lang="en-IN" sz="6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268E4A-63CB-9EB0-7238-4D701FDEF34E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78316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FA3A2-B309-8D89-B6BF-EC742692021F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FINAL DELIVERABLE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622BD-C9B9-B5B0-0613-B3A7CD2ED965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Corrected output is a searchable, selectable PDF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2929C0-7B24-4349-1747-7B88A5F0F85C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41F6D0C-CEA2-DCE9-E1AB-03FA1287CE34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4BCF0B-E050-069C-893F-6BCE44C6DEC8}"/>
              </a:ext>
            </a:extLst>
          </p:cNvPr>
          <p:cNvSpPr/>
          <p:nvPr/>
        </p:nvSpPr>
        <p:spPr>
          <a:xfrm>
            <a:off x="584200" y="1676400"/>
            <a:ext cx="8305800" cy="469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629D5F-BC1A-5504-2CA1-8C003AAF6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04181"/>
            <a:ext cx="8255000" cy="464343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F500A1-0C69-EE37-CDCA-8ACC3414F220}"/>
              </a:ext>
            </a:extLst>
          </p:cNvPr>
          <p:cNvSpPr/>
          <p:nvPr/>
        </p:nvSpPr>
        <p:spPr>
          <a:xfrm>
            <a:off x="9271000" y="1905000"/>
            <a:ext cx="23114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34553C-9E63-FF70-D01D-0E629459913D}"/>
              </a:ext>
            </a:extLst>
          </p:cNvPr>
          <p:cNvSpPr/>
          <p:nvPr/>
        </p:nvSpPr>
        <p:spPr>
          <a:xfrm>
            <a:off x="9271000" y="1905000"/>
            <a:ext cx="76200" cy="16002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6A349-79E8-8F55-AEC8-464EA4B09CE9}"/>
              </a:ext>
            </a:extLst>
          </p:cNvPr>
          <p:cNvSpPr txBox="1"/>
          <p:nvPr/>
        </p:nvSpPr>
        <p:spPr>
          <a:xfrm>
            <a:off x="9499600" y="2082800"/>
            <a:ext cx="190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PRESERVED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155D2F-1EDE-CD2A-43E5-8A53ED8634F4}"/>
              </a:ext>
            </a:extLst>
          </p:cNvPr>
          <p:cNvSpPr txBox="1"/>
          <p:nvPr/>
        </p:nvSpPr>
        <p:spPr>
          <a:xfrm>
            <a:off x="9499600" y="2362200"/>
            <a:ext cx="187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Original OCR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7E79B-C412-F024-407A-A5BB0358A43B}"/>
              </a:ext>
            </a:extLst>
          </p:cNvPr>
          <p:cNvSpPr txBox="1"/>
          <p:nvPr/>
        </p:nvSpPr>
        <p:spPr>
          <a:xfrm>
            <a:off x="9499600" y="2794000"/>
            <a:ext cx="1879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>
                <a:solidFill>
                  <a:srgbClr val="56686E"/>
                </a:solidFill>
                <a:latin typeface="Calibri" panose="020F0502020204030204" pitchFamily="34" charset="0"/>
              </a:rPr>
              <a:t>The source transcription remains visible for comparison and provenance.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B5841-2028-C066-6B32-CB284D16CEC8}"/>
              </a:ext>
            </a:extLst>
          </p:cNvPr>
          <p:cNvSpPr/>
          <p:nvPr/>
        </p:nvSpPr>
        <p:spPr>
          <a:xfrm>
            <a:off x="9271000" y="3784600"/>
            <a:ext cx="2311400" cy="180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21468-07E3-DD33-F8F1-40B4E4E69ED5}"/>
              </a:ext>
            </a:extLst>
          </p:cNvPr>
          <p:cNvSpPr/>
          <p:nvPr/>
        </p:nvSpPr>
        <p:spPr>
          <a:xfrm>
            <a:off x="9271000" y="3784600"/>
            <a:ext cx="76200" cy="18034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92AFCC-C99B-414B-4D8A-5643307B6541}"/>
              </a:ext>
            </a:extLst>
          </p:cNvPr>
          <p:cNvSpPr txBox="1"/>
          <p:nvPr/>
        </p:nvSpPr>
        <p:spPr>
          <a:xfrm>
            <a:off x="9499600" y="3962400"/>
            <a:ext cx="190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DELIVERED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25DDA8-499C-3E7D-0070-BCDA70A42380}"/>
              </a:ext>
            </a:extLst>
          </p:cNvPr>
          <p:cNvSpPr txBox="1"/>
          <p:nvPr/>
        </p:nvSpPr>
        <p:spPr>
          <a:xfrm>
            <a:off x="9499600" y="4241800"/>
            <a:ext cx="187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Corrected PDF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AC956A-C775-CDEC-5C6D-9906FAE9110E}"/>
              </a:ext>
            </a:extLst>
          </p:cNvPr>
          <p:cNvSpPr txBox="1"/>
          <p:nvPr/>
        </p:nvSpPr>
        <p:spPr>
          <a:xfrm>
            <a:off x="9499600" y="4673600"/>
            <a:ext cx="1879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Validated token substitutions are written into a downloadable text-searchable PDF.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9225F1-11F4-5EBD-6CCD-B2A3A70AE5AE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D97E1D1-BDD0-D322-18FD-190F71DB300E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6A9692-B488-B779-7304-E4F3903DB43D}"/>
              </a:ext>
            </a:extLst>
          </p:cNvPr>
          <p:cNvSpPr txBox="1"/>
          <p:nvPr/>
        </p:nvSpPr>
        <p:spPr>
          <a:xfrm>
            <a:off x="4445000" y="6502400"/>
            <a:ext cx="6477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50">
                <a:solidFill>
                  <a:srgbClr val="56686E"/>
                </a:solidFill>
                <a:latin typeface="Calibri" panose="020F0502020204030204" pitchFamily="34" charset="0"/>
              </a:rPr>
              <a:t>Actual output: data/output/95c87513-...-corrected.pdf</a:t>
            </a:r>
            <a:endParaRPr lang="en-IN" sz="6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367FFC-40DA-4FCF-9CC9-B878AF618A9B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992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851DE1-25F3-1C51-9250-3E4060AC9E14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KNOWLEDGE GRAPH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76F7F-6A42-67FD-FEC3-D3A1E0324A6A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Readable document-centred graph from the real government fixture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B2F61B-AAC2-1342-0BBE-ED0E8273BB79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D4DCF2-5E61-AD5D-BAFA-92217D5A9DD1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762D3C-DB23-A155-20A1-D81B522A1C2B}"/>
              </a:ext>
            </a:extLst>
          </p:cNvPr>
          <p:cNvSpPr/>
          <p:nvPr/>
        </p:nvSpPr>
        <p:spPr>
          <a:xfrm>
            <a:off x="584200" y="1676400"/>
            <a:ext cx="8305800" cy="469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D8D6CA-5F86-1114-922E-F8C526029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04181"/>
            <a:ext cx="8255000" cy="464343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74E5E-7566-C170-0D17-CAF0FE29347E}"/>
              </a:ext>
            </a:extLst>
          </p:cNvPr>
          <p:cNvSpPr/>
          <p:nvPr/>
        </p:nvSpPr>
        <p:spPr>
          <a:xfrm>
            <a:off x="9271000" y="1905000"/>
            <a:ext cx="2311400" cy="162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BF1D05-07E5-963F-5177-287B5658D539}"/>
              </a:ext>
            </a:extLst>
          </p:cNvPr>
          <p:cNvSpPr/>
          <p:nvPr/>
        </p:nvSpPr>
        <p:spPr>
          <a:xfrm>
            <a:off x="9271000" y="1905000"/>
            <a:ext cx="76200" cy="16256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4F440-FDB8-0D30-4F69-BC2D239B0F50}"/>
              </a:ext>
            </a:extLst>
          </p:cNvPr>
          <p:cNvSpPr txBox="1"/>
          <p:nvPr/>
        </p:nvSpPr>
        <p:spPr>
          <a:xfrm>
            <a:off x="9499600" y="2082800"/>
            <a:ext cx="190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GRAPH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DEC9E-1E59-5A1C-1DEC-5479346CEEF0}"/>
              </a:ext>
            </a:extLst>
          </p:cNvPr>
          <p:cNvSpPr txBox="1"/>
          <p:nvPr/>
        </p:nvSpPr>
        <p:spPr>
          <a:xfrm>
            <a:off x="9499600" y="2362200"/>
            <a:ext cx="187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12 nodes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C7614B-A506-A751-E7A3-4FCEC80F1676}"/>
              </a:ext>
            </a:extLst>
          </p:cNvPr>
          <p:cNvSpPr txBox="1"/>
          <p:nvPr/>
        </p:nvSpPr>
        <p:spPr>
          <a:xfrm>
            <a:off x="9499600" y="2794000"/>
            <a:ext cx="1879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Document, date, reference, organizations, policy and regulation entities.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557003-E077-047A-FC0F-D73052F71212}"/>
              </a:ext>
            </a:extLst>
          </p:cNvPr>
          <p:cNvSpPr/>
          <p:nvPr/>
        </p:nvSpPr>
        <p:spPr>
          <a:xfrm>
            <a:off x="9271000" y="3784600"/>
            <a:ext cx="2311400" cy="180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932B5AC-2CFB-0F9F-0723-5101C40DE3AD}"/>
              </a:ext>
            </a:extLst>
          </p:cNvPr>
          <p:cNvSpPr/>
          <p:nvPr/>
        </p:nvSpPr>
        <p:spPr>
          <a:xfrm>
            <a:off x="9271000" y="3784600"/>
            <a:ext cx="76200" cy="18034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535DC-4BD9-3B26-2157-F267AEF43FED}"/>
              </a:ext>
            </a:extLst>
          </p:cNvPr>
          <p:cNvSpPr txBox="1"/>
          <p:nvPr/>
        </p:nvSpPr>
        <p:spPr>
          <a:xfrm>
            <a:off x="9499600" y="3962400"/>
            <a:ext cx="190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PURPOSE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EDA24A-5664-2144-25FA-C366AAD68AB0}"/>
              </a:ext>
            </a:extLst>
          </p:cNvPr>
          <p:cNvSpPr txBox="1"/>
          <p:nvPr/>
        </p:nvSpPr>
        <p:spPr>
          <a:xfrm>
            <a:off x="9499600" y="4241800"/>
            <a:ext cx="1879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Grounded selection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8FD0FE-535A-3D22-F266-3C0BD2D42DE1}"/>
              </a:ext>
            </a:extLst>
          </p:cNvPr>
          <p:cNvSpPr txBox="1"/>
          <p:nvPr/>
        </p:nvSpPr>
        <p:spPr>
          <a:xfrm>
            <a:off x="9499600" y="4673600"/>
            <a:ext cx="18796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Candidate terms are linked to semantic and graph evidence before local Qwen selection.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B95316-26A6-7AA5-FD70-37E5776FFF56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666C335-C202-244E-EE1B-65CF56A71429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D06EEB-4720-C77A-BA82-BF38A3E5A76A}"/>
              </a:ext>
            </a:extLst>
          </p:cNvPr>
          <p:cNvSpPr txBox="1"/>
          <p:nvPr/>
        </p:nvSpPr>
        <p:spPr>
          <a:xfrm>
            <a:off x="4445000" y="6502400"/>
            <a:ext cx="6477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50">
                <a:solidFill>
                  <a:srgbClr val="56686E"/>
                </a:solidFill>
                <a:latin typeface="Calibri" panose="020F0502020204030204" pitchFamily="34" charset="0"/>
              </a:rPr>
              <a:t>Actual graph view: run 95c87513</a:t>
            </a:r>
            <a:endParaRPr lang="en-IN" sz="6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E797AD-A04A-2408-9F2E-86F352011978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24620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4D8DEF-6BEB-6BE7-A8C9-7F0EE973C855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VERIFICATION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ED06C-44DC-4F6B-AD80-A107DD7DD027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Automated tests, build and API checks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E9E9D5-8609-4BB2-86EC-E034063BFB42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B3F654-42B7-F8DB-CC08-CC45820899EA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EAD660-4F94-BA0A-8FE5-10172694E71D}"/>
              </a:ext>
            </a:extLst>
          </p:cNvPr>
          <p:cNvSpPr/>
          <p:nvPr/>
        </p:nvSpPr>
        <p:spPr>
          <a:xfrm>
            <a:off x="609600" y="2032000"/>
            <a:ext cx="2476500" cy="213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A7D828-9B6F-2DAC-3B96-29EA5FDF36C2}"/>
              </a:ext>
            </a:extLst>
          </p:cNvPr>
          <p:cNvSpPr txBox="1"/>
          <p:nvPr/>
        </p:nvSpPr>
        <p:spPr>
          <a:xfrm>
            <a:off x="787400" y="2298700"/>
            <a:ext cx="2120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1F7469"/>
                </a:solidFill>
                <a:latin typeface="Tahoma" panose="020B0604030504040204" pitchFamily="34" charset="0"/>
              </a:rPr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B3037-7D51-1B15-9796-ED4221C78E0D}"/>
              </a:ext>
            </a:extLst>
          </p:cNvPr>
          <p:cNvSpPr txBox="1"/>
          <p:nvPr/>
        </p:nvSpPr>
        <p:spPr>
          <a:xfrm>
            <a:off x="787400" y="2908300"/>
            <a:ext cx="2120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200" b="1">
                <a:solidFill>
                  <a:srgbClr val="0A1C25"/>
                </a:solidFill>
                <a:latin typeface="Calibri" panose="020F0502020204030204" pitchFamily="34" charset="0"/>
              </a:rPr>
              <a:t>backend tests passed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9AB23-28B4-0A9F-017E-B2F58C0252EC}"/>
              </a:ext>
            </a:extLst>
          </p:cNvPr>
          <p:cNvSpPr txBox="1"/>
          <p:nvPr/>
        </p:nvSpPr>
        <p:spPr>
          <a:xfrm>
            <a:off x="787400" y="3543300"/>
            <a:ext cx="2120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00">
                <a:solidFill>
                  <a:srgbClr val="56686E"/>
                </a:solidFill>
                <a:latin typeface="Calibri" panose="020F0502020204030204" pitchFamily="34" charset="0"/>
              </a:rPr>
              <a:t>pytest suite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DDBC49-88A9-DE7E-F86B-8A72E84DDC03}"/>
              </a:ext>
            </a:extLst>
          </p:cNvPr>
          <p:cNvSpPr/>
          <p:nvPr/>
        </p:nvSpPr>
        <p:spPr>
          <a:xfrm>
            <a:off x="3378200" y="2032000"/>
            <a:ext cx="2476500" cy="213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C3448-5CAC-F78B-BAC2-B9BE0048CAB4}"/>
              </a:ext>
            </a:extLst>
          </p:cNvPr>
          <p:cNvSpPr txBox="1"/>
          <p:nvPr/>
        </p:nvSpPr>
        <p:spPr>
          <a:xfrm>
            <a:off x="3556000" y="2298700"/>
            <a:ext cx="2120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2766C9"/>
                </a:solidFill>
                <a:latin typeface="Tahoma" panose="020B0604030504040204" pitchFamily="34" charset="0"/>
              </a:rPr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F63E-89C4-3855-D6D6-EED3DB4F0156}"/>
              </a:ext>
            </a:extLst>
          </p:cNvPr>
          <p:cNvSpPr txBox="1"/>
          <p:nvPr/>
        </p:nvSpPr>
        <p:spPr>
          <a:xfrm>
            <a:off x="3556000" y="2908300"/>
            <a:ext cx="2120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200" b="1">
                <a:solidFill>
                  <a:srgbClr val="0A1C25"/>
                </a:solidFill>
                <a:latin typeface="Calibri" panose="020F0502020204030204" pitchFamily="34" charset="0"/>
              </a:rPr>
              <a:t>evaluation tests passed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0D6E8-EFB8-9230-B1DA-BF88D188FA17}"/>
              </a:ext>
            </a:extLst>
          </p:cNvPr>
          <p:cNvSpPr txBox="1"/>
          <p:nvPr/>
        </p:nvSpPr>
        <p:spPr>
          <a:xfrm>
            <a:off x="3556000" y="3543300"/>
            <a:ext cx="2120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00">
                <a:solidFill>
                  <a:srgbClr val="56686E"/>
                </a:solidFill>
                <a:latin typeface="Calibri" panose="020F0502020204030204" pitchFamily="34" charset="0"/>
              </a:rPr>
              <a:t>metrics, charts, stale-data checks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A17579-6A6F-01BA-F841-3DD8E4BE97C5}"/>
              </a:ext>
            </a:extLst>
          </p:cNvPr>
          <p:cNvSpPr/>
          <p:nvPr/>
        </p:nvSpPr>
        <p:spPr>
          <a:xfrm>
            <a:off x="6146800" y="2032000"/>
            <a:ext cx="2476500" cy="213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3865F4-6368-4A33-B848-388DF6696F8B}"/>
              </a:ext>
            </a:extLst>
          </p:cNvPr>
          <p:cNvSpPr txBox="1"/>
          <p:nvPr/>
        </p:nvSpPr>
        <p:spPr>
          <a:xfrm>
            <a:off x="6324600" y="2298700"/>
            <a:ext cx="2120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E5A124"/>
                </a:solidFill>
                <a:latin typeface="Tahoma" panose="020B0604030504040204" pitchFamily="34" charset="0"/>
              </a:rPr>
              <a:t>SUCCESS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154B37-1814-AEF4-7A5C-8E0DE68FA076}"/>
              </a:ext>
            </a:extLst>
          </p:cNvPr>
          <p:cNvSpPr txBox="1"/>
          <p:nvPr/>
        </p:nvSpPr>
        <p:spPr>
          <a:xfrm>
            <a:off x="6324600" y="2908300"/>
            <a:ext cx="2120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200" b="1">
                <a:solidFill>
                  <a:srgbClr val="0A1C25"/>
                </a:solidFill>
                <a:latin typeface="Calibri" panose="020F0502020204030204" pitchFamily="34" charset="0"/>
              </a:rPr>
              <a:t>frontend production build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C5682-05A0-319D-2C92-730837C88388}"/>
              </a:ext>
            </a:extLst>
          </p:cNvPr>
          <p:cNvSpPr txBox="1"/>
          <p:nvPr/>
        </p:nvSpPr>
        <p:spPr>
          <a:xfrm>
            <a:off x="6324600" y="3543300"/>
            <a:ext cx="2120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00">
                <a:solidFill>
                  <a:srgbClr val="56686E"/>
                </a:solidFill>
                <a:latin typeface="Calibri" panose="020F0502020204030204" pitchFamily="34" charset="0"/>
              </a:rPr>
              <a:t>Vite build completed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46ACB7B-99DC-D724-231B-5A0F829DACC4}"/>
              </a:ext>
            </a:extLst>
          </p:cNvPr>
          <p:cNvSpPr/>
          <p:nvPr/>
        </p:nvSpPr>
        <p:spPr>
          <a:xfrm>
            <a:off x="8915400" y="2032000"/>
            <a:ext cx="2476500" cy="213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B63F3A-3E26-EE88-6B57-58FE67521586}"/>
              </a:ext>
            </a:extLst>
          </p:cNvPr>
          <p:cNvSpPr txBox="1"/>
          <p:nvPr/>
        </p:nvSpPr>
        <p:spPr>
          <a:xfrm>
            <a:off x="9093200" y="2298700"/>
            <a:ext cx="2120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BE4A45"/>
                </a:solidFill>
                <a:latin typeface="Tahoma" panose="020B0604030504040204" pitchFamily="34" charset="0"/>
              </a:rPr>
              <a:t>HTTP 200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D36E6F-55AC-9377-5693-62738D564926}"/>
              </a:ext>
            </a:extLst>
          </p:cNvPr>
          <p:cNvSpPr txBox="1"/>
          <p:nvPr/>
        </p:nvSpPr>
        <p:spPr>
          <a:xfrm>
            <a:off x="9093200" y="2908300"/>
            <a:ext cx="2120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200" b="1">
                <a:solidFill>
                  <a:srgbClr val="0A1C25"/>
                </a:solidFill>
                <a:latin typeface="Calibri" panose="020F0502020204030204" pitchFamily="34" charset="0"/>
              </a:rPr>
              <a:t>chart endpoint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32D29-DC30-94E5-F08D-D6B96BB264CD}"/>
              </a:ext>
            </a:extLst>
          </p:cNvPr>
          <p:cNvSpPr txBox="1"/>
          <p:nvPr/>
        </p:nvSpPr>
        <p:spPr>
          <a:xfrm>
            <a:off x="9093200" y="3543300"/>
            <a:ext cx="2120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00">
                <a:solidFill>
                  <a:srgbClr val="56686E"/>
                </a:solidFill>
                <a:latin typeface="Calibri" panose="020F0502020204030204" pitchFamily="34" charset="0"/>
              </a:rPr>
              <a:t>image/svg+xml returned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51D1A7-38AC-B24F-A4DF-2A4508DD9E3C}"/>
              </a:ext>
            </a:extLst>
          </p:cNvPr>
          <p:cNvSpPr/>
          <p:nvPr/>
        </p:nvSpPr>
        <p:spPr>
          <a:xfrm>
            <a:off x="1587500" y="4699000"/>
            <a:ext cx="9017000" cy="939800"/>
          </a:xfrm>
          <a:prstGeom prst="roundRect">
            <a:avLst/>
          </a:prstGeom>
          <a:solidFill>
            <a:srgbClr val="E8F4F1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1E75DF-4D99-7EFB-2950-A50353F4609D}"/>
              </a:ext>
            </a:extLst>
          </p:cNvPr>
          <p:cNvSpPr txBox="1"/>
          <p:nvPr/>
        </p:nvSpPr>
        <p:spPr>
          <a:xfrm>
            <a:off x="1905000" y="4940300"/>
            <a:ext cx="838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F7469"/>
                </a:solidFill>
                <a:latin typeface="Calibri" panose="020F0502020204030204" pitchFamily="34" charset="0"/>
              </a:rPr>
              <a:t>Evidence is executable and attributable: the same repository contains the API, UI, tests, model adapters, outputs and evaluation artifacts.</a:t>
            </a:r>
            <a:endParaRPr lang="en-IN" sz="1400" b="1">
              <a:solidFill>
                <a:srgbClr val="1F7469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FDED24E-1D58-E88F-7545-FABAD102EC34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E395CCA-8F1D-983F-57F9-CAEE3DB97619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E9F485-97B9-BED1-B9DA-269B0AFD69FD}"/>
              </a:ext>
            </a:extLst>
          </p:cNvPr>
          <p:cNvSpPr txBox="1"/>
          <p:nvPr/>
        </p:nvSpPr>
        <p:spPr>
          <a:xfrm>
            <a:off x="4445000" y="6502400"/>
            <a:ext cx="64770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50">
                <a:solidFill>
                  <a:srgbClr val="56686E"/>
                </a:solidFill>
                <a:latin typeface="Calibri" panose="020F0502020204030204" pitchFamily="34" charset="0"/>
              </a:rPr>
              <a:t>Verification completed in the project environment</a:t>
            </a:r>
            <a:endParaRPr lang="en-IN" sz="6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6B77AB-0096-4BC2-CCC9-9081A6BC4391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04520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D2A930-2362-9F87-EC19-9AC4FE9BDAEE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REPRODUCIBILITY &amp; STATE INTEGRITY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7BF2B-B9C8-308D-AFF3-6352EB02F5FF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Fresh computation without fabricated or stale results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00C151-C48A-6512-667C-FF1381621353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BA1562B-4CCD-3045-E6E4-627E299377E2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E5009F-B3B1-082D-9F0D-AAAA4F9B87FE}"/>
              </a:ext>
            </a:extLst>
          </p:cNvPr>
          <p:cNvSpPr/>
          <p:nvPr/>
        </p:nvSpPr>
        <p:spPr>
          <a:xfrm>
            <a:off x="736600" y="1841500"/>
            <a:ext cx="32766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20462E-8060-6CEF-388D-D77F129A203E}"/>
              </a:ext>
            </a:extLst>
          </p:cNvPr>
          <p:cNvSpPr/>
          <p:nvPr/>
        </p:nvSpPr>
        <p:spPr>
          <a:xfrm>
            <a:off x="736600" y="1841500"/>
            <a:ext cx="76200" cy="31115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9101A6-C08D-3BEC-A2BD-4CCA96896A4A}"/>
              </a:ext>
            </a:extLst>
          </p:cNvPr>
          <p:cNvSpPr txBox="1"/>
          <p:nvPr/>
        </p:nvSpPr>
        <p:spPr>
          <a:xfrm>
            <a:off x="965200" y="2019300"/>
            <a:ext cx="2870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2766C9"/>
                </a:solidFill>
                <a:latin typeface="Tahoma" panose="020B060403050404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9453B-B12C-2969-15B0-A65BB8A9B6F9}"/>
              </a:ext>
            </a:extLst>
          </p:cNvPr>
          <p:cNvSpPr txBox="1"/>
          <p:nvPr/>
        </p:nvSpPr>
        <p:spPr>
          <a:xfrm>
            <a:off x="965200" y="2298700"/>
            <a:ext cx="2844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New evaluation 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0669C-01C8-3D21-5D6D-AC9193E5BA3B}"/>
              </a:ext>
            </a:extLst>
          </p:cNvPr>
          <p:cNvSpPr txBox="1"/>
          <p:nvPr/>
        </p:nvSpPr>
        <p:spPr>
          <a:xfrm>
            <a:off x="965200" y="2730500"/>
            <a:ext cx="28448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Each request creates a new UUID and timestamp. Existing result folders are never silently reused as a new run.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012F7-278D-DE55-F17D-782ADC6BAFB0}"/>
              </a:ext>
            </a:extLst>
          </p:cNvPr>
          <p:cNvSpPr/>
          <p:nvPr/>
        </p:nvSpPr>
        <p:spPr>
          <a:xfrm>
            <a:off x="4457700" y="1841500"/>
            <a:ext cx="32766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9C5B91-DCD2-BD61-5575-22EA1A8B7D4D}"/>
              </a:ext>
            </a:extLst>
          </p:cNvPr>
          <p:cNvSpPr/>
          <p:nvPr/>
        </p:nvSpPr>
        <p:spPr>
          <a:xfrm>
            <a:off x="4457700" y="1841500"/>
            <a:ext cx="76200" cy="31115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520CD1-49A5-FF33-1BFB-3679334087AD}"/>
              </a:ext>
            </a:extLst>
          </p:cNvPr>
          <p:cNvSpPr txBox="1"/>
          <p:nvPr/>
        </p:nvSpPr>
        <p:spPr>
          <a:xfrm>
            <a:off x="4686300" y="2019300"/>
            <a:ext cx="2870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1F7469"/>
                </a:solidFill>
                <a:latin typeface="Tahoma" panose="020B060403050404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5E4C3F-60FB-6B86-701F-5EAB4E132BB3}"/>
              </a:ext>
            </a:extLst>
          </p:cNvPr>
          <p:cNvSpPr txBox="1"/>
          <p:nvPr/>
        </p:nvSpPr>
        <p:spPr>
          <a:xfrm>
            <a:off x="4686300" y="2298700"/>
            <a:ext cx="2844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Deterministic signature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7A99A3-C5BB-506C-7F93-4AD51CE25800}"/>
              </a:ext>
            </a:extLst>
          </p:cNvPr>
          <p:cNvSpPr txBox="1"/>
          <p:nvPr/>
        </p:nvSpPr>
        <p:spPr>
          <a:xfrm>
            <a:off x="4686300" y="2730500"/>
            <a:ext cx="28448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The current pipeline outputs and configuration produce an input signature for audit and comparison.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131943-3E0C-82C7-1584-4E798873BAB3}"/>
              </a:ext>
            </a:extLst>
          </p:cNvPr>
          <p:cNvSpPr/>
          <p:nvPr/>
        </p:nvSpPr>
        <p:spPr>
          <a:xfrm>
            <a:off x="8178800" y="1841500"/>
            <a:ext cx="3276600" cy="311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109AFC-B094-3CE7-14A0-97A2EA45CBDF}"/>
              </a:ext>
            </a:extLst>
          </p:cNvPr>
          <p:cNvSpPr/>
          <p:nvPr/>
        </p:nvSpPr>
        <p:spPr>
          <a:xfrm>
            <a:off x="8178800" y="1841500"/>
            <a:ext cx="76200" cy="3111500"/>
          </a:xfrm>
          <a:prstGeom prst="roundRect">
            <a:avLst/>
          </a:prstGeom>
          <a:solidFill>
            <a:srgbClr val="E5A124"/>
          </a:solidFill>
          <a:ln w="10160">
            <a:solidFill>
              <a:srgbClr val="E5A1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295ABD-FDED-B7AB-84EB-D21597CCE1AD}"/>
              </a:ext>
            </a:extLst>
          </p:cNvPr>
          <p:cNvSpPr txBox="1"/>
          <p:nvPr/>
        </p:nvSpPr>
        <p:spPr>
          <a:xfrm>
            <a:off x="8407400" y="2019300"/>
            <a:ext cx="2870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800" b="1">
                <a:solidFill>
                  <a:srgbClr val="E5A124"/>
                </a:solidFill>
                <a:latin typeface="Tahoma" panose="020B060403050404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0623FC-E3F5-1640-E425-D0203D67858D}"/>
              </a:ext>
            </a:extLst>
          </p:cNvPr>
          <p:cNvSpPr txBox="1"/>
          <p:nvPr/>
        </p:nvSpPr>
        <p:spPr>
          <a:xfrm>
            <a:off x="8407400" y="2298700"/>
            <a:ext cx="2844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600" b="1">
                <a:solidFill>
                  <a:srgbClr val="0A1C25"/>
                </a:solidFill>
                <a:latin typeface="Tahoma" panose="020B0604030504040204" pitchFamily="34" charset="0"/>
              </a:rPr>
              <a:t>Machine-readable evidence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3A34E7-CB29-B1A4-185D-28EFA8991279}"/>
              </a:ext>
            </a:extLst>
          </p:cNvPr>
          <p:cNvSpPr txBox="1"/>
          <p:nvPr/>
        </p:nvSpPr>
        <p:spPr>
          <a:xfrm>
            <a:off x="8407400" y="2730500"/>
            <a:ext cx="2844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50">
                <a:solidFill>
                  <a:srgbClr val="56686E"/>
                </a:solidFill>
                <a:latin typeface="Calibri" panose="020F0502020204030204" pitchFamily="34" charset="0"/>
              </a:rPr>
              <a:t>JSON, CSV, source data, charts and logs are stored together under the evaluation ID.</a:t>
            </a:r>
            <a:endParaRPr lang="en-IN" sz="105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68E840-1590-85DE-F567-71F0FE4AC458}"/>
              </a:ext>
            </a:extLst>
          </p:cNvPr>
          <p:cNvSpPr txBox="1"/>
          <p:nvPr/>
        </p:nvSpPr>
        <p:spPr>
          <a:xfrm>
            <a:off x="1016000" y="5461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0A1C25"/>
                </a:solidFill>
                <a:latin typeface="Calibri" panose="020F0502020204030204" pitchFamily="34" charset="0"/>
              </a:rPr>
              <a:t>Same input state -&gt; same metrics/signature; changed input state -&gt; changed signature and regenerated artifacts.</a:t>
            </a:r>
            <a:endParaRPr lang="en-IN" sz="13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34750E-3506-4AD9-7CB6-AE632D71043F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2639AB-9A03-1B56-BC10-31540FAC5785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C4F97-F0AB-6BF6-EDB4-21D5D0AE2535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291763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D251BE-2146-5885-7C4D-0417041AC329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LIMITATIONS &amp; NEXT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2E3AA-77E8-9798-1C7E-ADE80178396A}"/>
              </a:ext>
            </a:extLst>
          </p:cNvPr>
          <p:cNvSpPr txBox="1"/>
          <p:nvPr/>
        </p:nvSpPr>
        <p:spPr>
          <a:xfrm>
            <a:off x="482600" y="571500"/>
            <a:ext cx="11049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Claims are bounded by the evidence available today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45C544-3944-9DEE-CF7C-BFCAF473FFD5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8634189-38A3-4FD5-FD3E-DF992E786292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20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C95CCC-E6B3-8F59-CEC0-0F640BDA27DF}"/>
              </a:ext>
            </a:extLst>
          </p:cNvPr>
          <p:cNvSpPr/>
          <p:nvPr/>
        </p:nvSpPr>
        <p:spPr>
          <a:xfrm>
            <a:off x="609600" y="1752600"/>
            <a:ext cx="109728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6FCB27-C93B-3969-F825-3EC657A7252D}"/>
              </a:ext>
            </a:extLst>
          </p:cNvPr>
          <p:cNvSpPr/>
          <p:nvPr/>
        </p:nvSpPr>
        <p:spPr>
          <a:xfrm>
            <a:off x="609600" y="1752600"/>
            <a:ext cx="88900" cy="863600"/>
          </a:xfrm>
          <a:prstGeom prst="roundRect">
            <a:avLst/>
          </a:prstGeom>
          <a:solidFill>
            <a:srgbClr val="BE4A45"/>
          </a:solidFill>
          <a:ln w="10160">
            <a:solidFill>
              <a:srgbClr val="BE4A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F895A-F70E-0B11-83EC-2B83B4E492AA}"/>
              </a:ext>
            </a:extLst>
          </p:cNvPr>
          <p:cNvSpPr txBox="1"/>
          <p:nvPr/>
        </p:nvSpPr>
        <p:spPr>
          <a:xfrm>
            <a:off x="914400" y="1892300"/>
            <a:ext cx="2603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Tahoma" panose="020B0604030504040204" pitchFamily="34" charset="0"/>
              </a:rPr>
              <a:t>No verified ground truth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B6EB2-6297-94F6-4023-EF99D38B34A0}"/>
              </a:ext>
            </a:extLst>
          </p:cNvPr>
          <p:cNvSpPr txBox="1"/>
          <p:nvPr/>
        </p:nvSpPr>
        <p:spPr>
          <a:xfrm>
            <a:off x="3632200" y="18669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56686E"/>
                </a:solidFill>
                <a:latin typeface="Calibri" panose="020F0502020204030204" pitchFamily="34" charset="0"/>
              </a:rPr>
              <a:t>CER/WER and correction accuracy cannot yet be claimed.</a:t>
            </a:r>
            <a:endParaRPr lang="en-IN" sz="100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9F8BF-551E-42B4-1C36-FB9E29546A62}"/>
              </a:ext>
            </a:extLst>
          </p:cNvPr>
          <p:cNvSpPr txBox="1"/>
          <p:nvPr/>
        </p:nvSpPr>
        <p:spPr>
          <a:xfrm>
            <a:off x="8382000" y="19050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50" b="1">
                <a:solidFill>
                  <a:srgbClr val="BE4A45"/>
                </a:solidFill>
                <a:latin typeface="Calibri" panose="020F0502020204030204" pitchFamily="34" charset="0"/>
              </a:rPr>
              <a:t>NEXT | Prepare faculty-reviewed transcriptions.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213C6D-DB10-7BB4-165C-71E11964F535}"/>
              </a:ext>
            </a:extLst>
          </p:cNvPr>
          <p:cNvSpPr/>
          <p:nvPr/>
        </p:nvSpPr>
        <p:spPr>
          <a:xfrm>
            <a:off x="609600" y="2806700"/>
            <a:ext cx="109728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028096-B196-1569-AE26-98BF65050CCD}"/>
              </a:ext>
            </a:extLst>
          </p:cNvPr>
          <p:cNvSpPr/>
          <p:nvPr/>
        </p:nvSpPr>
        <p:spPr>
          <a:xfrm>
            <a:off x="609600" y="2806700"/>
            <a:ext cx="88900" cy="863600"/>
          </a:xfrm>
          <a:prstGeom prst="roundRect">
            <a:avLst/>
          </a:prstGeom>
          <a:solidFill>
            <a:srgbClr val="E5A124"/>
          </a:solidFill>
          <a:ln w="10160">
            <a:solidFill>
              <a:srgbClr val="E5A1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46D565-89CA-5DD4-E4D0-DE5D850EA0F8}"/>
              </a:ext>
            </a:extLst>
          </p:cNvPr>
          <p:cNvSpPr txBox="1"/>
          <p:nvPr/>
        </p:nvSpPr>
        <p:spPr>
          <a:xfrm>
            <a:off x="914400" y="2946400"/>
            <a:ext cx="2603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Tahoma" panose="020B0604030504040204" pitchFamily="34" charset="0"/>
              </a:rPr>
              <a:t>Small local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B0A63-97BE-F6B4-E697-5BA3D859A7C0}"/>
              </a:ext>
            </a:extLst>
          </p:cNvPr>
          <p:cNvSpPr txBox="1"/>
          <p:nvPr/>
        </p:nvSpPr>
        <p:spPr>
          <a:xfrm>
            <a:off x="3632200" y="29210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00">
                <a:solidFill>
                  <a:srgbClr val="56686E"/>
                </a:solidFill>
                <a:latin typeface="Calibri" panose="020F0502020204030204" pitchFamily="34" charset="0"/>
              </a:rPr>
              <a:t>Ten unique document outputs support functional, not statistical, conclusions.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C39AF-43BB-F1E1-2E93-CC5A93F33720}"/>
              </a:ext>
            </a:extLst>
          </p:cNvPr>
          <p:cNvSpPr txBox="1"/>
          <p:nvPr/>
        </p:nvSpPr>
        <p:spPr>
          <a:xfrm>
            <a:off x="8382000" y="29591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 b="1">
                <a:solidFill>
                  <a:srgbClr val="E5A124"/>
                </a:solidFill>
                <a:latin typeface="Calibri" panose="020F0502020204030204" pitchFamily="34" charset="0"/>
              </a:rPr>
              <a:t>NEXT | Expand balanced domain fixtures.</a:t>
            </a:r>
            <a:endParaRPr lang="en-IN" sz="950" b="1">
              <a:solidFill>
                <a:srgbClr val="E5A12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1525998-B5E7-6787-CE43-D7C5CB13E197}"/>
              </a:ext>
            </a:extLst>
          </p:cNvPr>
          <p:cNvSpPr/>
          <p:nvPr/>
        </p:nvSpPr>
        <p:spPr>
          <a:xfrm>
            <a:off x="609600" y="3860800"/>
            <a:ext cx="109728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279B43-C6B9-0467-36A5-5664B145BCBF}"/>
              </a:ext>
            </a:extLst>
          </p:cNvPr>
          <p:cNvSpPr/>
          <p:nvPr/>
        </p:nvSpPr>
        <p:spPr>
          <a:xfrm>
            <a:off x="609600" y="3860800"/>
            <a:ext cx="88900" cy="863600"/>
          </a:xfrm>
          <a:prstGeom prst="roundRect">
            <a:avLst/>
          </a:prstGeom>
          <a:solidFill>
            <a:srgbClr val="2766C9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76DD27-B0E1-7FCD-1549-4A136AABC380}"/>
              </a:ext>
            </a:extLst>
          </p:cNvPr>
          <p:cNvSpPr txBox="1"/>
          <p:nvPr/>
        </p:nvSpPr>
        <p:spPr>
          <a:xfrm>
            <a:off x="914400" y="4000500"/>
            <a:ext cx="2603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Tahoma" panose="020B0604030504040204" pitchFamily="34" charset="0"/>
              </a:rPr>
              <a:t>Memory-sensitive local models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062471-56A4-E2C2-7411-258217DC24CF}"/>
              </a:ext>
            </a:extLst>
          </p:cNvPr>
          <p:cNvSpPr txBox="1"/>
          <p:nvPr/>
        </p:nvSpPr>
        <p:spPr>
          <a:xfrm>
            <a:off x="3632200" y="39751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56686E"/>
                </a:solidFill>
                <a:latin typeface="Calibri" panose="020F0502020204030204" pitchFamily="34" charset="0"/>
              </a:rPr>
              <a:t>BGE-M3 and Qwen share Windows memory/pagefile resources.</a:t>
            </a:r>
            <a:endParaRPr lang="en-IN" sz="100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1D5334-5AC6-BC3C-7E90-17577C074F43}"/>
              </a:ext>
            </a:extLst>
          </p:cNvPr>
          <p:cNvSpPr txBox="1"/>
          <p:nvPr/>
        </p:nvSpPr>
        <p:spPr>
          <a:xfrm>
            <a:off x="8382000" y="40132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 b="1">
                <a:solidFill>
                  <a:srgbClr val="2766C9"/>
                </a:solidFill>
                <a:latin typeface="Calibri" panose="020F0502020204030204" pitchFamily="34" charset="0"/>
              </a:rPr>
              <a:t>NEXT | Benchmark sequential loading and quantization.</a:t>
            </a:r>
            <a:endParaRPr lang="en-IN" sz="950" b="1">
              <a:solidFill>
                <a:srgbClr val="2766C9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8875D43-40D1-BA7E-A90E-DA2DF6F740B0}"/>
              </a:ext>
            </a:extLst>
          </p:cNvPr>
          <p:cNvSpPr/>
          <p:nvPr/>
        </p:nvSpPr>
        <p:spPr>
          <a:xfrm>
            <a:off x="609600" y="4914900"/>
            <a:ext cx="109728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3BC9FC-34FC-66EB-9C63-4DE49378F53E}"/>
              </a:ext>
            </a:extLst>
          </p:cNvPr>
          <p:cNvSpPr/>
          <p:nvPr/>
        </p:nvSpPr>
        <p:spPr>
          <a:xfrm>
            <a:off x="609600" y="4914900"/>
            <a:ext cx="88900" cy="863600"/>
          </a:xfrm>
          <a:prstGeom prst="roundRect">
            <a:avLst/>
          </a:prstGeom>
          <a:solidFill>
            <a:srgbClr val="1F7469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9574BE-05B1-A1CC-09FA-41E751A10683}"/>
              </a:ext>
            </a:extLst>
          </p:cNvPr>
          <p:cNvSpPr txBox="1"/>
          <p:nvPr/>
        </p:nvSpPr>
        <p:spPr>
          <a:xfrm>
            <a:off x="914400" y="5054600"/>
            <a:ext cx="2603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100" b="1">
                <a:solidFill>
                  <a:srgbClr val="0A1C25"/>
                </a:solidFill>
                <a:latin typeface="Tahoma" panose="020B0604030504040204" pitchFamily="34" charset="0"/>
              </a:rPr>
              <a:t>Robotics not fabricated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688AD8-3CFD-F626-19C6-B27424DB2F9A}"/>
              </a:ext>
            </a:extLst>
          </p:cNvPr>
          <p:cNvSpPr txBox="1"/>
          <p:nvPr/>
        </p:nvSpPr>
        <p:spPr>
          <a:xfrm>
            <a:off x="3632200" y="50292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56686E"/>
                </a:solidFill>
                <a:latin typeface="Calibri" panose="020F0502020204030204" pitchFamily="34" charset="0"/>
              </a:rPr>
              <a:t>CAD, control logic and BoQ are proposed; hardware is not built.</a:t>
            </a:r>
            <a:endParaRPr lang="en-IN" sz="1000">
              <a:solidFill>
                <a:srgbClr val="56686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E5BA0E-A5AA-D17C-5EE6-5C159A3086D8}"/>
              </a:ext>
            </a:extLst>
          </p:cNvPr>
          <p:cNvSpPr txBox="1"/>
          <p:nvPr/>
        </p:nvSpPr>
        <p:spPr>
          <a:xfrm>
            <a:off x="8382000" y="5067300"/>
            <a:ext cx="292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950" b="1">
                <a:solidFill>
                  <a:srgbClr val="1F7469"/>
                </a:solidFill>
                <a:latin typeface="Calibri" panose="020F0502020204030204" pitchFamily="34" charset="0"/>
              </a:rPr>
              <a:t>NEXT | Prototype after software review sign-off.</a:t>
            </a:r>
            <a:endParaRPr lang="en-IN" sz="950" b="1">
              <a:solidFill>
                <a:srgbClr val="1F7469"/>
              </a:solidFill>
              <a:latin typeface="Calibri" panose="020F050202020403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3820DF-8A73-692B-8F66-C0E8CBF7A72D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239B7D8-2AA2-5644-6D87-0B9301C7F4D1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EEE81A-6BC2-6BFC-8461-CEBD2BCD3D5F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4917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1146F0-7802-4956-BE72-9F6EFFEBD81B}"/>
              </a:ext>
            </a:extLst>
          </p:cNvPr>
          <p:cNvSpPr txBox="1"/>
          <p:nvPr/>
        </p:nvSpPr>
        <p:spPr>
          <a:xfrm>
            <a:off x="482600" y="2921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SYSTEM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A5A30-A3B3-F789-74CC-073ED79F1DF7}"/>
              </a:ext>
            </a:extLst>
          </p:cNvPr>
          <p:cNvSpPr txBox="1"/>
          <p:nvPr/>
        </p:nvSpPr>
        <p:spPr>
          <a:xfrm>
            <a:off x="482600" y="571500"/>
            <a:ext cx="11049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500" b="1">
                <a:solidFill>
                  <a:srgbClr val="0A1C25"/>
                </a:solidFill>
                <a:latin typeface="Tahoma" panose="020B0604030504040204" pitchFamily="34" charset="0"/>
              </a:rPr>
              <a:t>From implemented document intelligence to proposed physical action</a:t>
            </a:r>
            <a:endParaRPr lang="en-IN" sz="2500" b="1">
              <a:solidFill>
                <a:srgbClr val="0A1C25"/>
              </a:solidFill>
              <a:latin typeface="Tahoma" panose="020B060403050404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9CB8CA-3B55-88A7-DCC5-7B58FEA77250}"/>
              </a:ext>
            </a:extLst>
          </p:cNvPr>
          <p:cNvCxnSpPr/>
          <p:nvPr/>
        </p:nvCxnSpPr>
        <p:spPr>
          <a:xfrm>
            <a:off x="482600" y="1422400"/>
            <a:ext cx="11226800" cy="0"/>
          </a:xfrm>
          <a:prstGeom prst="line">
            <a:avLst/>
          </a:prstGeom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0A334B-609D-364E-6A18-31520C4A6FE4}"/>
              </a:ext>
            </a:extLst>
          </p:cNvPr>
          <p:cNvSpPr txBox="1"/>
          <p:nvPr/>
        </p:nvSpPr>
        <p:spPr>
          <a:xfrm>
            <a:off x="11353800" y="3175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 b="1">
                <a:solidFill>
                  <a:srgbClr val="56686E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507DBF-6118-EE59-B999-37F3B7F0DE0B}"/>
              </a:ext>
            </a:extLst>
          </p:cNvPr>
          <p:cNvSpPr/>
          <p:nvPr/>
        </p:nvSpPr>
        <p:spPr>
          <a:xfrm>
            <a:off x="736600" y="1968500"/>
            <a:ext cx="4572000" cy="2921000"/>
          </a:xfrm>
          <a:prstGeom prst="roundRect">
            <a:avLst/>
          </a:prstGeom>
          <a:solidFill>
            <a:srgbClr val="E8F4F1"/>
          </a:solidFill>
          <a:ln w="10160">
            <a:solidFill>
              <a:srgbClr val="1F7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E1FC1D-6390-4F59-52E0-5EB34C3E8EDD}"/>
              </a:ext>
            </a:extLst>
          </p:cNvPr>
          <p:cNvSpPr txBox="1"/>
          <p:nvPr/>
        </p:nvSpPr>
        <p:spPr>
          <a:xfrm>
            <a:off x="1041400" y="2273300"/>
            <a:ext cx="317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1F7469"/>
                </a:solidFill>
                <a:latin typeface="Tahoma" panose="020B0604030504040204" pitchFamily="34" charset="0"/>
              </a:rPr>
              <a:t>IMPLEMENTED NOW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46A69-2CA7-1E06-1CC6-44EFCA88A8CB}"/>
              </a:ext>
            </a:extLst>
          </p:cNvPr>
          <p:cNvSpPr txBox="1"/>
          <p:nvPr/>
        </p:nvSpPr>
        <p:spPr>
          <a:xfrm>
            <a:off x="1041400" y="2806700"/>
            <a:ext cx="37465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600" b="1">
                <a:solidFill>
                  <a:srgbClr val="0A1C25"/>
                </a:solidFill>
                <a:latin typeface="Calibri" panose="020F0502020204030204" pitchFamily="34" charset="0"/>
              </a:rPr>
              <a:t>OCR -&gt; confidence gate</a:t>
            </a:r>
          </a:p>
          <a:p>
            <a:pPr algn="l"/>
            <a:r>
              <a:rPr lang="en-US" sz="1600" b="1">
                <a:solidFill>
                  <a:srgbClr val="0A1C25"/>
                </a:solidFill>
                <a:latin typeface="Calibri" panose="020F0502020204030204" pitchFamily="34" charset="0"/>
              </a:rPr>
              <a:t>GraphRAG -&gt; local Qwen</a:t>
            </a:r>
          </a:p>
          <a:p>
            <a:pPr algn="l"/>
            <a:r>
              <a:rPr lang="en-US" sz="1600" b="1">
                <a:solidFill>
                  <a:srgbClr val="0A1C25"/>
                </a:solidFill>
                <a:latin typeface="Calibri" panose="020F0502020204030204" pitchFamily="34" charset="0"/>
              </a:rPr>
              <a:t>Validation -&gt; searchable PDF</a:t>
            </a:r>
          </a:p>
          <a:p>
            <a:pPr algn="l"/>
            <a:r>
              <a:rPr lang="en-US" sz="1600" b="1">
                <a:solidFill>
                  <a:srgbClr val="0A1C25"/>
                </a:solidFill>
                <a:latin typeface="Calibri" panose="020F0502020204030204" pitchFamily="34" charset="0"/>
              </a:rPr>
              <a:t>Quality evaluation -&gt; charts</a:t>
            </a:r>
            <a:endParaRPr lang="en-IN" sz="16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823280-5F13-F93F-81EE-DDA8023A9849}"/>
              </a:ext>
            </a:extLst>
          </p:cNvPr>
          <p:cNvCxnSpPr/>
          <p:nvPr/>
        </p:nvCxnSpPr>
        <p:spPr>
          <a:xfrm>
            <a:off x="5486400" y="3429000"/>
            <a:ext cx="1168400" cy="0"/>
          </a:xfrm>
          <a:prstGeom prst="line">
            <a:avLst/>
          </a:prstGeom>
          <a:ln w="50800">
            <a:solidFill>
              <a:srgbClr val="E5A1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211696-EA52-540E-AC5B-F57CABEB0D46}"/>
              </a:ext>
            </a:extLst>
          </p:cNvPr>
          <p:cNvSpPr/>
          <p:nvPr/>
        </p:nvSpPr>
        <p:spPr>
          <a:xfrm>
            <a:off x="6883400" y="1968500"/>
            <a:ext cx="4572000" cy="2921000"/>
          </a:xfrm>
          <a:prstGeom prst="roundRect">
            <a:avLst/>
          </a:prstGeom>
          <a:solidFill>
            <a:srgbClr val="EAF1FC"/>
          </a:solidFill>
          <a:ln w="10160">
            <a:solidFill>
              <a:srgbClr val="276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96353-4EA7-2276-EF26-C04ACE5C8543}"/>
              </a:ext>
            </a:extLst>
          </p:cNvPr>
          <p:cNvSpPr txBox="1"/>
          <p:nvPr/>
        </p:nvSpPr>
        <p:spPr>
          <a:xfrm>
            <a:off x="7188200" y="2273300"/>
            <a:ext cx="317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900" b="1">
                <a:solidFill>
                  <a:srgbClr val="2766C9"/>
                </a:solidFill>
                <a:latin typeface="Tahoma" panose="020B0604030504040204" pitchFamily="34" charset="0"/>
              </a:rPr>
              <a:t>PROPOSED NEXT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86DD7-5F15-D255-2526-B4DFFC828DBB}"/>
              </a:ext>
            </a:extLst>
          </p:cNvPr>
          <p:cNvSpPr txBox="1"/>
          <p:nvPr/>
        </p:nvSpPr>
        <p:spPr>
          <a:xfrm>
            <a:off x="7188200" y="2806700"/>
            <a:ext cx="37465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1600" b="1">
                <a:solidFill>
                  <a:srgbClr val="0A1C25"/>
                </a:solidFill>
                <a:latin typeface="Calibri" panose="020F0502020204030204" pitchFamily="34" charset="0"/>
              </a:rPr>
              <a:t>Document class -&gt; control command</a:t>
            </a:r>
          </a:p>
          <a:p>
            <a:pPr algn="l"/>
            <a:r>
              <a:rPr lang="en-US" sz="1600" b="1">
                <a:solidFill>
                  <a:srgbClr val="0A1C25"/>
                </a:solidFill>
                <a:latin typeface="Calibri" panose="020F0502020204030204" pitchFamily="34" charset="0"/>
              </a:rPr>
              <a:t>NodeMCU -&gt; motor/actuator</a:t>
            </a:r>
          </a:p>
          <a:p>
            <a:pPr algn="l"/>
            <a:r>
              <a:rPr lang="en-US" sz="1600" b="1">
                <a:solidFill>
                  <a:srgbClr val="0A1C25"/>
                </a:solidFill>
                <a:latin typeface="Calibri" panose="020F0502020204030204" pitchFamily="34" charset="0"/>
              </a:rPr>
              <a:t>Sensors -&gt; position feedback</a:t>
            </a:r>
          </a:p>
          <a:p>
            <a:pPr algn="l"/>
            <a:r>
              <a:rPr lang="en-US" sz="1600" b="1">
                <a:solidFill>
                  <a:srgbClr val="0A1C25"/>
                </a:solidFill>
                <a:latin typeface="Calibri" panose="020F0502020204030204" pitchFamily="34" charset="0"/>
              </a:rPr>
              <a:t>Physical bin -&gt; audit event</a:t>
            </a:r>
            <a:endParaRPr lang="en-IN" sz="1600" b="1">
              <a:solidFill>
                <a:srgbClr val="0A1C25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274A32-5FD7-E804-1D30-6E3DD3FC2E3B}"/>
              </a:ext>
            </a:extLst>
          </p:cNvPr>
          <p:cNvSpPr txBox="1"/>
          <p:nvPr/>
        </p:nvSpPr>
        <p:spPr>
          <a:xfrm>
            <a:off x="1206500" y="5499100"/>
            <a:ext cx="977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E5A124"/>
                </a:solidFill>
                <a:latin typeface="Calibri" panose="020F0502020204030204" pitchFamily="34" charset="0"/>
              </a:rPr>
              <a:t>The following slides retain the team's robotics design and are explicitly presented as proposed physical integration.</a:t>
            </a:r>
            <a:endParaRPr lang="en-IN" sz="1300" b="1">
              <a:solidFill>
                <a:srgbClr val="E5A124"/>
              </a:solidFill>
              <a:latin typeface="Calibri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62050E-1BE7-E631-89F9-74E42F1D8558}"/>
              </a:ext>
            </a:extLst>
          </p:cNvPr>
          <p:cNvCxnSpPr/>
          <p:nvPr/>
        </p:nvCxnSpPr>
        <p:spPr>
          <a:xfrm>
            <a:off x="482600" y="6413500"/>
            <a:ext cx="11226800" cy="0"/>
          </a:xfrm>
          <a:prstGeom prst="line">
            <a:avLst/>
          </a:prstGeom>
          <a:ln w="10160">
            <a:solidFill>
              <a:srgbClr val="DAE2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FE2646-E4F5-0D0B-EF3B-CCDD44BE4237}"/>
              </a:ext>
            </a:extLst>
          </p:cNvPr>
          <p:cNvSpPr txBox="1"/>
          <p:nvPr/>
        </p:nvSpPr>
        <p:spPr>
          <a:xfrm>
            <a:off x="482600" y="6502400"/>
            <a:ext cx="3937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700" b="1">
                <a:solidFill>
                  <a:srgbClr val="56686E"/>
                </a:solidFill>
                <a:latin typeface="Tahoma" panose="020B0604030504040204" pitchFamily="34" charset="0"/>
              </a:rPr>
              <a:t>CONTEXT OCR | REVIEW III | 16 SEP 2026</a:t>
            </a:r>
            <a:endParaRPr lang="en-IN" sz="700" b="1">
              <a:solidFill>
                <a:srgbClr val="56686E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064D86-FB53-2DB5-65BE-960DDC14AE1C}"/>
              </a:ext>
            </a:extLst>
          </p:cNvPr>
          <p:cNvSpPr txBox="1"/>
          <p:nvPr/>
        </p:nvSpPr>
        <p:spPr>
          <a:xfrm>
            <a:off x="11328400" y="6489700"/>
            <a:ext cx="381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700" b="1">
                <a:solidFill>
                  <a:srgbClr val="56686E"/>
                </a:solidFill>
                <a:latin typeface="Courier New" panose="02070309020205020404" pitchFamily="49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85910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40080"/>
            <a:ext cx="109728" cy="521208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AI-Driven Intelligent Document Analysis</a:t>
            </a:r>
            <a:br/>
            <a:r>
              <a:t>and Robotic Sorting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743200"/>
            <a:ext cx="873125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2E1EE"/>
                </a:solidFill>
              </a:defRPr>
            </a:pPr>
            <a:r>
              <a:t>Project</a:t>
            </a:r>
            <a:r>
              <a:rPr lang="en-IN"/>
              <a:t>-1</a:t>
            </a:r>
            <a:r>
              <a:t> </a:t>
            </a:r>
          </a:p>
          <a:p>
            <a:pPr algn="ctr">
              <a:defRPr sz="1800">
                <a:solidFill>
                  <a:srgbClr val="D2E1EE"/>
                </a:solidFill>
              </a:defRPr>
            </a:pPr>
            <a:r>
              <a:t>Integrating OCR + Small Language Model + Decision Intelligence + Physical Robotic Actuation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754880"/>
            <a:ext cx="1912924" cy="77724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Document Input</a:t>
            </a:r>
          </a:p>
        </p:txBody>
      </p:sp>
      <p:sp>
        <p:nvSpPr>
          <p:cNvPr id="6" name="Chevron 5"/>
          <p:cNvSpPr/>
          <p:nvPr/>
        </p:nvSpPr>
        <p:spPr>
          <a:xfrm>
            <a:off x="2891332" y="4956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19348" y="4754880"/>
            <a:ext cx="1912924" cy="77724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OCR</a:t>
            </a:r>
          </a:p>
        </p:txBody>
      </p:sp>
      <p:sp>
        <p:nvSpPr>
          <p:cNvPr id="8" name="Chevron 7"/>
          <p:cNvSpPr/>
          <p:nvPr/>
        </p:nvSpPr>
        <p:spPr>
          <a:xfrm>
            <a:off x="4950561" y="4956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78577" y="4754880"/>
            <a:ext cx="1912924" cy="77724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SLM Analysis</a:t>
            </a:r>
          </a:p>
        </p:txBody>
      </p:sp>
      <p:sp>
        <p:nvSpPr>
          <p:cNvPr id="10" name="Chevron 9"/>
          <p:cNvSpPr/>
          <p:nvPr/>
        </p:nvSpPr>
        <p:spPr>
          <a:xfrm>
            <a:off x="7009790" y="4956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7806" y="4754880"/>
            <a:ext cx="1912924" cy="77724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069019" y="4956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97035" y="4754880"/>
            <a:ext cx="1912924" cy="777240"/>
          </a:xfrm>
          <a:prstGeom prst="roundRect">
            <a:avLst/>
          </a:prstGeom>
          <a:solidFill>
            <a:srgbClr val="EF8540"/>
          </a:solidFill>
          <a:ln>
            <a:solidFill>
              <a:srgbClr val="EF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Robotic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852160"/>
            <a:ext cx="323197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8D7"/>
                </a:solidFill>
              </a:defRPr>
            </a:pPr>
            <a:r>
              <a:rPr lang="en-IN" sz="1200">
                <a:latin typeface="Tahoma" panose="020B0604030504040204" pitchFamily="34" charset="0"/>
              </a:rPr>
              <a:t>Aravind Raghuram T A - 23BCE1493</a:t>
            </a:r>
          </a:p>
          <a:p>
            <a:pPr>
              <a:defRPr sz="1200">
                <a:solidFill>
                  <a:srgbClr val="B4C8D7"/>
                </a:solidFill>
              </a:defRPr>
            </a:pPr>
            <a:r>
              <a:rPr lang="en-IN" sz="1200">
                <a:latin typeface="Tahoma" panose="020B0604030504040204" pitchFamily="34" charset="0"/>
              </a:rPr>
              <a:t>Akshith Srinivas M - 23BCE5078</a:t>
            </a:r>
          </a:p>
          <a:p>
            <a:pPr>
              <a:defRPr sz="1200">
                <a:solidFill>
                  <a:srgbClr val="B4C8D7"/>
                </a:solidFill>
              </a:defRPr>
            </a:pPr>
            <a:r>
              <a:rPr lang="en-IN" sz="1200">
                <a:latin typeface="Tahoma" panose="020B0604030504040204" pitchFamily="34" charset="0"/>
              </a:rPr>
              <a:t>Swaroopa Mangal M - 23BRS1223</a:t>
            </a:r>
          </a:p>
          <a:p>
            <a:pPr>
              <a:defRPr sz="1200">
                <a:solidFill>
                  <a:srgbClr val="B4C8D7"/>
                </a:solidFill>
              </a:defRPr>
            </a:pPr>
            <a:r>
              <a:rPr lang="en-IN" sz="1200">
                <a:latin typeface="Tahoma" panose="020B0604030504040204" pitchFamily="34" charset="0"/>
              </a:rPr>
              <a:t>Guide: Dr. Jayaram B | Review: 16 Sep 2026</a:t>
            </a:r>
            <a:endParaRPr sz="1200"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D18CEB-3F98-F54F-2D0F-5EA20B995A09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2517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77889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A"/>
                </a:solidFill>
              </a:defRPr>
            </a:pPr>
            <a:r>
              <a:rPr sz="1800"/>
              <a:t>Why a software-only document intelligence system is insufficient for this </a:t>
            </a:r>
            <a:r>
              <a:rPr lang="en-IN" sz="1800"/>
              <a:t>project-1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566160" cy="3566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73152" cy="356616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81328"/>
            <a:ext cx="18789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Current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38528"/>
            <a:ext cx="324612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Large volumes of documents arrive in mixed formats and require extraction, understanding, validation and routing. Manual handling is slow and error-prone.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371600"/>
            <a:ext cx="3566160" cy="3566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371600"/>
            <a:ext cx="73152" cy="356616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481328"/>
            <a:ext cx="14827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Technical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938528"/>
            <a:ext cx="324612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OCR alone extracts text but does not provide domain-aware contextual interpretation and confidence-based intervention.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371600"/>
            <a:ext cx="3566160" cy="3566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37575" y="1371600"/>
            <a:ext cx="73152" cy="356616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7" y="1481328"/>
            <a:ext cx="1431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Robotics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7" y="1938528"/>
            <a:ext cx="324612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A classification result remains virtual unless it triggers a meaningful physical action such as routing, sorting or manual intervention.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12F43-6D29-81C5-9AA4-719F41A8B6CB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66077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600"/>
              <a:t>2. Project Objective and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400800" cy="296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600"/>
              <a:t>• Build an intelligent pipeline that accepts physical or digital documents in heterogeneous formats.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600"/>
              <a:t>• Extract text using OCR and normalize it into a machine-readable representation.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600"/>
              <a:t>• Use a domain-adapted Small Language Model (SLM) for contextual classification/decision support.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600"/>
              <a:t>• Generate an interpretable decision with confidence or predefined rule conditions.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600"/>
              <a:t>• Convert the digital decision into physical robotic action using sensors, actuators and a controller.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417320"/>
            <a:ext cx="4069080" cy="100584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7406640" y="1417320"/>
            <a:ext cx="73152" cy="100584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571231" y="1527048"/>
            <a:ext cx="71183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1833753"/>
            <a:ext cx="374904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600"/>
              <a:t>Document image / scanned paper / PDF / structured or semi-structured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697480"/>
            <a:ext cx="4069080" cy="100584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7406640" y="2697480"/>
            <a:ext cx="73152" cy="100584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7571231" y="2807208"/>
            <a:ext cx="23742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t>INTELLIGENT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3144393"/>
            <a:ext cx="374904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600"/>
              <a:t>OCR → preprocessing → SLM → classification → confidence/rules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977639"/>
            <a:ext cx="4069080" cy="100584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7406640" y="3977639"/>
            <a:ext cx="73152" cy="100584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7571231" y="4087368"/>
            <a:ext cx="8940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4455033"/>
            <a:ext cx="374904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600"/>
              <a:t>Digital result + physical routing to Accepted / Review / Rejected tray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3098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7A"/>
                </a:solidFill>
              </a:defRPr>
            </a:pPr>
            <a:endParaRPr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1D0E99-8C2B-7FB3-226F-58DBE3D10064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1796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3. Core Concept: Closed-Loop AI-to-Robotics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500922" cy="91440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Physical Document</a:t>
            </a:r>
          </a:p>
        </p:txBody>
      </p:sp>
      <p:sp>
        <p:nvSpPr>
          <p:cNvPr id="5" name="Chevron 4"/>
          <p:cNvSpPr/>
          <p:nvPr/>
        </p:nvSpPr>
        <p:spPr>
          <a:xfrm>
            <a:off x="1930690" y="17099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706" y="1508760"/>
            <a:ext cx="1500922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Camera / Scanner</a:t>
            </a:r>
          </a:p>
        </p:txBody>
      </p:sp>
      <p:sp>
        <p:nvSpPr>
          <p:cNvPr id="7" name="Chevron 6"/>
          <p:cNvSpPr/>
          <p:nvPr/>
        </p:nvSpPr>
        <p:spPr>
          <a:xfrm>
            <a:off x="3577916" y="17099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05932" y="1508760"/>
            <a:ext cx="1500922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OCR &amp; Pre-processing</a:t>
            </a:r>
          </a:p>
        </p:txBody>
      </p:sp>
      <p:sp>
        <p:nvSpPr>
          <p:cNvPr id="9" name="Chevron 8"/>
          <p:cNvSpPr/>
          <p:nvPr/>
        </p:nvSpPr>
        <p:spPr>
          <a:xfrm>
            <a:off x="5225142" y="17099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53158" y="1508760"/>
            <a:ext cx="1500922" cy="914400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SLM Inference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6872369" y="17099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00385" y="1508760"/>
            <a:ext cx="1500922" cy="91440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Decision Engine</a:t>
            </a:r>
          </a:p>
        </p:txBody>
      </p:sp>
      <p:sp>
        <p:nvSpPr>
          <p:cNvPr id="13" name="Chevron 12"/>
          <p:cNvSpPr/>
          <p:nvPr/>
        </p:nvSpPr>
        <p:spPr>
          <a:xfrm>
            <a:off x="8519595" y="17099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47611" y="1508760"/>
            <a:ext cx="1500922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ESP32 Control</a:t>
            </a:r>
          </a:p>
        </p:txBody>
      </p:sp>
      <p:sp>
        <p:nvSpPr>
          <p:cNvPr id="15" name="Chevron 14"/>
          <p:cNvSpPr/>
          <p:nvPr/>
        </p:nvSpPr>
        <p:spPr>
          <a:xfrm>
            <a:off x="10166821" y="17099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94837" y="1508760"/>
            <a:ext cx="1500922" cy="914400"/>
          </a:xfrm>
          <a:prstGeom prst="roundRect">
            <a:avLst/>
          </a:prstGeom>
          <a:solidFill>
            <a:srgbClr val="EF8540"/>
          </a:solidFill>
          <a:ln>
            <a:solidFill>
              <a:srgbClr val="EF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Servo / Motor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5577840" cy="233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Perception layer captures the real-world document.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Intelligence layer understands the extracted content and determines its category/status.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Decision layer maps AI confidence and project rules to a deterministic action.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Robotics layer executes the action and uses sensors to confirm document 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880360"/>
            <a:ext cx="4572000" cy="228600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66560" y="2880360"/>
            <a:ext cx="73152" cy="228600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31152" y="2990088"/>
            <a:ext cx="318325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Why this is Robotics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447288"/>
            <a:ext cx="425196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The robot is not merely displaying a classification result. The AI output becomes an actuator command that physically changes the state/location of the document.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927350-2D34-6D9C-456E-8E9D4A12517B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63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lang="en-IN" sz="1800"/>
              <a:t>4. </a:t>
            </a:r>
            <a:r>
              <a:rPr sz="1800"/>
              <a:t>What are the Input and Output?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20624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420624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8851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84248"/>
            <a:ext cx="498348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• Physical paper document placed in feeder</a:t>
            </a:r>
            <a:br>
              <a:rPr sz="1800"/>
            </a:br>
            <a:r>
              <a:rPr sz="1800"/>
              <a:t>• Digital image / PDF / scanned page</a:t>
            </a:r>
            <a:br>
              <a:rPr sz="1800"/>
            </a:br>
            <a:r>
              <a:rPr sz="1800"/>
              <a:t>• OCR text extracted from document</a:t>
            </a:r>
            <a:br>
              <a:rPr sz="1800"/>
            </a:br>
            <a:r>
              <a:rPr sz="1800"/>
              <a:t>• Sensor signals: entry and position confirmation</a:t>
            </a:r>
            <a:br>
              <a:rPr sz="1800"/>
            </a:br>
            <a:r>
              <a:rPr sz="1800"/>
              <a:t>• Optional metadata / predefined domain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17320"/>
            <a:ext cx="5303520" cy="420624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73152" cy="420624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10902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84248"/>
            <a:ext cx="498348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• Predicted document category / semantic label</a:t>
            </a:r>
            <a:br>
              <a:rPr sz="1800"/>
            </a:br>
            <a:r>
              <a:rPr sz="1800"/>
              <a:t>• Confidence score and explanation fields</a:t>
            </a:r>
            <a:br>
              <a:rPr sz="1800"/>
            </a:br>
            <a:r>
              <a:rPr sz="1800"/>
              <a:t>• Decision: Accept / Route / Manual Review</a:t>
            </a:r>
            <a:br>
              <a:rPr sz="1800"/>
            </a:br>
            <a:r>
              <a:rPr sz="1800"/>
              <a:t>• Controller command to actuator</a:t>
            </a:r>
            <a:br>
              <a:rPr sz="1800"/>
            </a:br>
            <a:r>
              <a:rPr sz="1800"/>
              <a:t>• Physical movement of document into the selected tray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889C5-D218-52FA-8A3D-E364E5BFEDA4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630930" y="525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/>
              <a:t>Top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" y="1231900"/>
            <a:ext cx="9348470" cy="53994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D39731-BB9A-3E89-9CFE-83C1C4FA48F5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7935" y="6280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/>
              <a:t>Bill of Quantities</a:t>
            </a:r>
          </a:p>
          <a:p>
            <a:pPr algn="ctr"/>
            <a:r>
              <a:rPr lang="en-IN" altLang="en-US"/>
              <a:t>A. Core Hardware Components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1183640" y="4786630"/>
          <a:ext cx="10483215" cy="2071370"/>
        </p:xfrm>
        <a:graphic>
          <a:graphicData uri="http://schemas.openxmlformats.org/drawingml/2006/table">
            <a:tbl>
              <a:tblPr/>
              <a:tblGrid>
                <a:gridCol w="349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4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4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1828800" y="2095500"/>
          <a:ext cx="8532495" cy="304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ESP32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Main 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USB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Document Perception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Servo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Sorting Actuation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IR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Document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Motor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Motor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DC Geared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Conveyor Movement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542060-ABC3-CDFB-6AAF-83C7DA323B17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870960" y="6489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/>
              <a:t>Bill Of Quantites</a:t>
            </a:r>
          </a:p>
          <a:p>
            <a:pPr algn="ctr"/>
            <a:r>
              <a:rPr lang="en-IN" altLang="en-US"/>
              <a:t>B.Mechanical Components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1828800" y="2286000"/>
          <a:ext cx="85324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Conveyors Rollers/Belt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Document Transportation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Input Tray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Document Feeding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Output Tray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Accept/ Review Seperation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Base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Component Mounting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Camera 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/>
                        <a:t>Camera Positioning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6449AEB-6062-2CAE-9A7C-192E729256A7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0739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5. Why Small Language Model (SLM) Instead of a Large Language Model?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74320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4297680"/>
          </a:xfrm>
          <a:prstGeom prst="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81328"/>
            <a:ext cx="57594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38528"/>
            <a:ext cx="242316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High general capability</a:t>
            </a:r>
            <a:br>
              <a:rPr sz="1800"/>
            </a:br>
            <a:r>
              <a:rPr sz="1800"/>
              <a:t>Large memory footprint</a:t>
            </a:r>
            <a:br>
              <a:rPr sz="1800"/>
            </a:br>
            <a:r>
              <a:rPr sz="1800"/>
              <a:t>Higher latency/cost</a:t>
            </a:r>
            <a:br>
              <a:rPr sz="1800"/>
            </a:br>
            <a:r>
              <a:rPr sz="1800"/>
              <a:t>Often excessive for a narrow, fixed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371600"/>
            <a:ext cx="384048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371600"/>
            <a:ext cx="73152" cy="429768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76472" y="1481328"/>
            <a:ext cx="23653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Chosen Approach: SLM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938528"/>
            <a:ext cx="3520440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Compact model fine-tuned/adapted for the project domain.</a:t>
            </a:r>
            <a:br>
              <a:rPr sz="1800"/>
            </a:br>
            <a:br>
              <a:rPr sz="1800"/>
            </a:br>
            <a:r>
              <a:rPr sz="1800"/>
              <a:t>Advantages:</a:t>
            </a:r>
            <a:br>
              <a:rPr sz="1800"/>
            </a:br>
            <a:r>
              <a:rPr sz="1800"/>
              <a:t>• Faster inference</a:t>
            </a:r>
            <a:br>
              <a:rPr sz="1800"/>
            </a:br>
            <a:r>
              <a:rPr sz="1800"/>
              <a:t>• Lower hardware requirement</a:t>
            </a:r>
            <a:br>
              <a:rPr sz="1800"/>
            </a:br>
            <a:r>
              <a:rPr sz="1800"/>
              <a:t>• Easier deployment</a:t>
            </a:r>
            <a:br>
              <a:rPr sz="1800"/>
            </a:br>
            <a:r>
              <a:rPr sz="1800"/>
              <a:t>• Better privacy/control</a:t>
            </a:r>
            <a:br>
              <a:rPr sz="1800"/>
            </a:br>
            <a:r>
              <a:rPr sz="1800"/>
              <a:t>• Suitable for constrained, repeatable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71600"/>
            <a:ext cx="384048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1371600"/>
            <a:ext cx="73152" cy="429768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45552" y="1481328"/>
            <a:ext cx="17348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Domain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1938528"/>
            <a:ext cx="352044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The SLM is not intended to know everything. It is optimized for the specific document domain and target classes defined by the project.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56383-3428-CCB4-42D2-479027E57C27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4284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6. SLM Dataset and Model Selection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468265" cy="86868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Collect Domain Documents</a:t>
            </a:r>
          </a:p>
        </p:txBody>
      </p:sp>
      <p:sp>
        <p:nvSpPr>
          <p:cNvPr id="5" name="Chevron 4"/>
          <p:cNvSpPr/>
          <p:nvPr/>
        </p:nvSpPr>
        <p:spPr>
          <a:xfrm>
            <a:off x="1989473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17489" y="1371600"/>
            <a:ext cx="1468265" cy="86868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OCR / Text Cleaning</a:t>
            </a:r>
          </a:p>
        </p:txBody>
      </p:sp>
      <p:sp>
        <p:nvSpPr>
          <p:cNvPr id="7" name="Chevron 6"/>
          <p:cNvSpPr/>
          <p:nvPr/>
        </p:nvSpPr>
        <p:spPr>
          <a:xfrm>
            <a:off x="3604042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32058" y="1371600"/>
            <a:ext cx="1468265" cy="86868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Anonymize</a:t>
            </a:r>
          </a:p>
        </p:txBody>
      </p:sp>
      <p:sp>
        <p:nvSpPr>
          <p:cNvPr id="9" name="Chevron 8"/>
          <p:cNvSpPr/>
          <p:nvPr/>
        </p:nvSpPr>
        <p:spPr>
          <a:xfrm>
            <a:off x="5218611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46627" y="1371600"/>
            <a:ext cx="1468265" cy="868680"/>
          </a:xfrm>
          <a:prstGeom prst="roundRect">
            <a:avLst/>
          </a:prstGeom>
          <a:solidFill>
            <a:srgbClr val="EF8540"/>
          </a:solidFill>
          <a:ln>
            <a:solidFill>
              <a:srgbClr val="EF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Annotate Labels</a:t>
            </a:r>
          </a:p>
        </p:txBody>
      </p:sp>
      <p:sp>
        <p:nvSpPr>
          <p:cNvPr id="11" name="Chevron 10"/>
          <p:cNvSpPr/>
          <p:nvPr/>
        </p:nvSpPr>
        <p:spPr>
          <a:xfrm>
            <a:off x="6833180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61196" y="1371600"/>
            <a:ext cx="1468265" cy="86868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Train / Fine-tune</a:t>
            </a:r>
          </a:p>
        </p:txBody>
      </p:sp>
      <p:sp>
        <p:nvSpPr>
          <p:cNvPr id="13" name="Chevron 12"/>
          <p:cNvSpPr/>
          <p:nvPr/>
        </p:nvSpPr>
        <p:spPr>
          <a:xfrm>
            <a:off x="8447749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75765" y="1371600"/>
            <a:ext cx="1468265" cy="86868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Validate</a:t>
            </a:r>
          </a:p>
        </p:txBody>
      </p:sp>
      <p:sp>
        <p:nvSpPr>
          <p:cNvPr id="15" name="Chevron 14"/>
          <p:cNvSpPr/>
          <p:nvPr/>
        </p:nvSpPr>
        <p:spPr>
          <a:xfrm>
            <a:off x="10062318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90334" y="1371600"/>
            <a:ext cx="1468265" cy="868680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88920"/>
            <a:ext cx="3474720" cy="237744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788920"/>
            <a:ext cx="73152" cy="237744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2898648"/>
            <a:ext cx="216725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Dataset 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502" y="3217418"/>
            <a:ext cx="3154679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Domain-specific documents + publicly permitted datasets + synthetically varied samples where appropriate.</a:t>
            </a:r>
            <a:br>
              <a:rPr sz="1800"/>
            </a:br>
            <a:br>
              <a:rPr sz="1800"/>
            </a:br>
            <a:r>
              <a:rPr sz="1800"/>
              <a:t>Each record mapped to a target class and validation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2788920"/>
            <a:ext cx="3474720" cy="237744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61688" y="2788920"/>
            <a:ext cx="73152" cy="237744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79" y="2898648"/>
            <a:ext cx="25615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Candidate Model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355848"/>
            <a:ext cx="3154679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Small parameter footprint, instruction-following ability, fine-tuning support, CPU/GPU deployment feasibility and consistent classification performance.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2788920"/>
            <a:ext cx="3474720" cy="237744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37575" y="2788920"/>
            <a:ext cx="73152" cy="237744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02167" y="2898648"/>
            <a:ext cx="21583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Final Model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3355848"/>
            <a:ext cx="3154679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Select experimentally after benchmarking candidate compact models on accuracy, latency, memory and robustness—not only popularity.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8227F2-EE1B-E0F4-3D62-36425435A023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901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7. OCR for Different Document Formats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1500922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PDF / Image / Scan</a:t>
            </a:r>
          </a:p>
        </p:txBody>
      </p:sp>
      <p:sp>
        <p:nvSpPr>
          <p:cNvPr id="5" name="Chevron 4"/>
          <p:cNvSpPr/>
          <p:nvPr/>
        </p:nvSpPr>
        <p:spPr>
          <a:xfrm>
            <a:off x="1930690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706" y="1417320"/>
            <a:ext cx="1500922" cy="91440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Format Detection</a:t>
            </a:r>
          </a:p>
        </p:txBody>
      </p:sp>
      <p:sp>
        <p:nvSpPr>
          <p:cNvPr id="7" name="Chevron 6"/>
          <p:cNvSpPr/>
          <p:nvPr/>
        </p:nvSpPr>
        <p:spPr>
          <a:xfrm>
            <a:off x="3577916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05932" y="1417320"/>
            <a:ext cx="1500922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Image Rendering</a:t>
            </a:r>
          </a:p>
        </p:txBody>
      </p:sp>
      <p:sp>
        <p:nvSpPr>
          <p:cNvPr id="9" name="Chevron 8"/>
          <p:cNvSpPr/>
          <p:nvPr/>
        </p:nvSpPr>
        <p:spPr>
          <a:xfrm>
            <a:off x="5225142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53158" y="1417320"/>
            <a:ext cx="1500922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Pre-processing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6872369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00385" y="1417320"/>
            <a:ext cx="1500922" cy="91440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OCR</a:t>
            </a:r>
          </a:p>
        </p:txBody>
      </p:sp>
      <p:sp>
        <p:nvSpPr>
          <p:cNvPr id="13" name="Chevron 12"/>
          <p:cNvSpPr/>
          <p:nvPr/>
        </p:nvSpPr>
        <p:spPr>
          <a:xfrm>
            <a:off x="8519595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47611" y="1417320"/>
            <a:ext cx="1500922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Text Normalization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10166821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94837" y="1417320"/>
            <a:ext cx="1500922" cy="914400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SLM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10789920" cy="216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Digital PDFs: extract embedded text when available; otherwise render pages and apply OCR.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Scanned PDFs/images: deskew, denoise, contrast enhancement and OCR.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Photographed documents: perspective correction and illumination normalization.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Handwritten content: use handwriting-capable OCR where the quality and supported language permit reliable extraction.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All extracted text is normalized into a common representation before intelligence processing.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5E392-530B-929E-49AF-F0935242D55D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0024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8. What Do We Classify or Cluster—and Why?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29768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236791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Classification (Primary)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489204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Assign each document to a known project-relevant class.</a:t>
            </a:r>
            <a:br>
              <a:rPr sz="1800"/>
            </a:br>
            <a:br>
              <a:rPr sz="1800"/>
            </a:br>
            <a:r>
              <a:rPr sz="1800"/>
              <a:t>Examples:</a:t>
            </a:r>
            <a:br>
              <a:rPr sz="1800"/>
            </a:br>
            <a:r>
              <a:rPr sz="1800"/>
              <a:t>• Category A → automated route</a:t>
            </a:r>
            <a:br>
              <a:rPr sz="1800"/>
            </a:br>
            <a:r>
              <a:rPr sz="1800"/>
              <a:t>• Category B → alternate route</a:t>
            </a:r>
            <a:br>
              <a:rPr sz="1800"/>
            </a:br>
            <a:r>
              <a:rPr sz="1800"/>
              <a:t>• Uncertain → manual review</a:t>
            </a:r>
            <a:br>
              <a:rPr sz="1800"/>
            </a:br>
            <a:br>
              <a:rPr sz="1800"/>
            </a:br>
            <a:r>
              <a:rPr sz="1800"/>
              <a:t>Why: physical sorting requires a deterministic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73152" cy="429768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1" y="1527048"/>
            <a:ext cx="312610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Clustering (Optional / Analysis)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984248"/>
            <a:ext cx="4892040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Group semantically similar documents when labels are incomplete or for discovering new patterns.</a:t>
            </a:r>
            <a:br>
              <a:rPr sz="1800"/>
            </a:br>
            <a:br>
              <a:rPr sz="1800"/>
            </a:br>
            <a:r>
              <a:rPr sz="1800"/>
              <a:t>Why: useful during dataset exploration, anomaly discovery and future category expansion—not necessarily required for every real-time routing decision.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6E726F-A04C-C4ED-303F-6BC847CAFCC3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151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9. Practical Use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44805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448056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9975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315467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Mixed physical documents are placed into the input feeder. Each document is automatically captured and analyzed.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74720" cy="44805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325880"/>
            <a:ext cx="73152" cy="448056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435607"/>
            <a:ext cx="12769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92807"/>
            <a:ext cx="3154679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OCR extracts content. The SLM performs domain-aware contextual classification and the decision engine evaluates confidence/rules.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325880"/>
            <a:ext cx="3474720" cy="44805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55864" y="1325880"/>
            <a:ext cx="73152" cy="448056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0456" y="1435607"/>
            <a:ext cx="18630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Physical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892807"/>
            <a:ext cx="3154679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A servo-controlled diverter routes the document to the correct output tray. Low-confidence cases are preserved for human review.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8B0F28-D020-9B5B-70F1-0AF02E3CB42F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76885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807585" cy="10680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endParaRPr sz="1800"/>
          </a:p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10. Novelty with Respect to Existing NLP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1139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Existing attention, Transformer, BERT and encoder-decoder models primarily improve language representation and prediction.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Our novelty is system-level: connecting contextual document intelligence to a closed-loop physical decision system.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Domain-adapted SLM enables lightweight inference rather than depending on a large general-purpose model.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Confidence-aware routing creates a human-in-the-loop path instead of blindly automating every prediction.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Sensor confirmation links AI decisions with the physical state of the document.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sz="1800"/>
              <a:t>• The contribution is an end-to-end cyber-physical architecture: perception → understanding → decision → actuation →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7015" y="1889760"/>
            <a:ext cx="3831590" cy="2155825"/>
          </a:xfrm>
          <a:prstGeom prst="roundRect">
            <a:avLst/>
          </a:prstGeom>
          <a:solidFill>
            <a:srgbClr val="66707A"/>
          </a:solidFill>
          <a:ln>
            <a:solidFill>
              <a:srgbClr val="66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NLP Model Only</a:t>
            </a:r>
            <a:r>
              <a:rPr lang="en-IN" sz="1800"/>
              <a:t> +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n-IN" sz="1800"/>
              <a:t>Domain SLM + Confidence Logic + Sensors + Actuator + Closed-Loop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825"/>
            <a:ext cx="309880" cy="10680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900">
                <a:solidFill>
                  <a:srgbClr val="66707A"/>
                </a:solidFill>
              </a:defRPr>
            </a:pPr>
            <a:endParaRPr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63A42-106E-959E-C0E8-E975AED4CE5A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314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11. How Exactly Is the Robotic Component Integrated?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507453" cy="91440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/>
              <a:t>Sensor Detects Document</a:t>
            </a:r>
          </a:p>
        </p:txBody>
      </p:sp>
      <p:sp>
        <p:nvSpPr>
          <p:cNvPr id="5" name="Chevron 4"/>
          <p:cNvSpPr/>
          <p:nvPr/>
        </p:nvSpPr>
        <p:spPr>
          <a:xfrm>
            <a:off x="1891501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9517" y="1371600"/>
            <a:ext cx="1507453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/>
              <a:t>Feed Motor Moves Document</a:t>
            </a:r>
          </a:p>
        </p:txBody>
      </p:sp>
      <p:sp>
        <p:nvSpPr>
          <p:cNvPr id="7" name="Chevron 6"/>
          <p:cNvSpPr/>
          <p:nvPr/>
        </p:nvSpPr>
        <p:spPr>
          <a:xfrm>
            <a:off x="3545259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73275" y="1371600"/>
            <a:ext cx="1507453" cy="91440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/>
              <a:t>Camera Captures</a:t>
            </a:r>
          </a:p>
        </p:txBody>
      </p:sp>
      <p:sp>
        <p:nvSpPr>
          <p:cNvPr id="9" name="Chevron 8"/>
          <p:cNvSpPr/>
          <p:nvPr/>
        </p:nvSpPr>
        <p:spPr>
          <a:xfrm>
            <a:off x="5199017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27033" y="1371600"/>
            <a:ext cx="1507453" cy="914400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/>
              <a:t>AI Decision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6852774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80790" y="1371600"/>
            <a:ext cx="1507453" cy="91440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/>
              <a:t>ESP32 Receives Command</a:t>
            </a:r>
          </a:p>
        </p:txBody>
      </p:sp>
      <p:sp>
        <p:nvSpPr>
          <p:cNvPr id="13" name="Chevron 12"/>
          <p:cNvSpPr/>
          <p:nvPr/>
        </p:nvSpPr>
        <p:spPr>
          <a:xfrm>
            <a:off x="8506532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34548" y="1371600"/>
            <a:ext cx="1507453" cy="914400"/>
          </a:xfrm>
          <a:prstGeom prst="roundRect">
            <a:avLst/>
          </a:prstGeom>
          <a:solidFill>
            <a:srgbClr val="EF8540"/>
          </a:solidFill>
          <a:ln>
            <a:solidFill>
              <a:srgbClr val="EF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/>
              <a:t>Servo Gate Rotates</a:t>
            </a:r>
          </a:p>
        </p:txBody>
      </p:sp>
      <p:sp>
        <p:nvSpPr>
          <p:cNvPr id="15" name="Chevron 14"/>
          <p:cNvSpPr/>
          <p:nvPr/>
        </p:nvSpPr>
        <p:spPr>
          <a:xfrm>
            <a:off x="10160290" y="157276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88306" y="1371600"/>
            <a:ext cx="1507453" cy="91440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/>
              <a:t>Sensor Confirms Exit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43200"/>
            <a:ext cx="3474720" cy="25603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743200"/>
            <a:ext cx="73152" cy="256032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2852928"/>
            <a:ext cx="9124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Sensors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310128"/>
            <a:ext cx="3154679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IR / break-beam sensors determine document entry and position. These are conditions that synchronize software and physical movement.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2743200"/>
            <a:ext cx="3474720" cy="25603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61688" y="2743200"/>
            <a:ext cx="73152" cy="256032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79" y="2852928"/>
            <a:ext cx="10991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Actuators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310128"/>
            <a:ext cx="315467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DC motor / roller feeds the document. Servo motor changes the diverter position according to the final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2743200"/>
            <a:ext cx="3474720" cy="25603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37575" y="2743200"/>
            <a:ext cx="73152" cy="256032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02167" y="2852928"/>
            <a:ext cx="141541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Control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3310128"/>
            <a:ext cx="315467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IF sensor confirms scan position AND AI confidence ≥ threshold → route automatically. ELSE → send to manual review.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902126-05BE-05E2-A3CB-28350DE1405B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7273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12. Proposed Decision Logic (Strong Panel Explanation)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79191" cy="77724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Document Detected</a:t>
            </a:r>
          </a:p>
        </p:txBody>
      </p:sp>
      <p:sp>
        <p:nvSpPr>
          <p:cNvPr id="5" name="Chevron 4"/>
          <p:cNvSpPr/>
          <p:nvPr/>
        </p:nvSpPr>
        <p:spPr>
          <a:xfrm>
            <a:off x="3200399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28415" y="1417320"/>
            <a:ext cx="2679191" cy="77724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Move to Scan Position</a:t>
            </a:r>
          </a:p>
        </p:txBody>
      </p:sp>
      <p:sp>
        <p:nvSpPr>
          <p:cNvPr id="7" name="Chevron 6"/>
          <p:cNvSpPr/>
          <p:nvPr/>
        </p:nvSpPr>
        <p:spPr>
          <a:xfrm>
            <a:off x="6025895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53912" y="1417320"/>
            <a:ext cx="2679191" cy="777240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OCR + SLM</a:t>
            </a:r>
          </a:p>
        </p:txBody>
      </p:sp>
      <p:sp>
        <p:nvSpPr>
          <p:cNvPr id="9" name="Chevron 8"/>
          <p:cNvSpPr/>
          <p:nvPr/>
        </p:nvSpPr>
        <p:spPr>
          <a:xfrm>
            <a:off x="8851392" y="16184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79408" y="1417320"/>
            <a:ext cx="2679191" cy="777240"/>
          </a:xfrm>
          <a:prstGeom prst="roundRect">
            <a:avLst/>
          </a:prstGeom>
          <a:solidFill>
            <a:srgbClr val="EF8540"/>
          </a:solidFill>
          <a:ln>
            <a:solidFill>
              <a:srgbClr val="EF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800"/>
              <a:t>Confidence / Rule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3291840" cy="228600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73152" cy="228600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852928"/>
            <a:ext cx="19583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HIGH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310128"/>
            <a:ext cx="29718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Classification valid + conditions satisfied</a:t>
            </a:r>
            <a:br>
              <a:rPr sz="1800"/>
            </a:br>
            <a:br>
              <a:rPr sz="1800"/>
            </a:br>
            <a:r>
              <a:rPr sz="1800"/>
              <a:t>→ Servo Gate Position A</a:t>
            </a:r>
            <a:br>
              <a:rPr sz="1800"/>
            </a:br>
            <a:r>
              <a:rPr sz="1800"/>
              <a:t>→ Accepted / Category Tray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743200"/>
            <a:ext cx="3291840" cy="228600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2743200"/>
            <a:ext cx="73152" cy="228600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2852928"/>
            <a:ext cx="23063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ALTERNATE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310128"/>
            <a:ext cx="29718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Classification valid but belongs to another class</a:t>
            </a:r>
            <a:br>
              <a:rPr sz="1800"/>
            </a:br>
            <a:br>
              <a:rPr sz="1800"/>
            </a:br>
            <a:r>
              <a:rPr sz="1800"/>
              <a:t>→ Servo Gate Position B</a:t>
            </a:r>
            <a:br>
              <a:rPr sz="1800"/>
            </a:br>
            <a:r>
              <a:rPr sz="1800"/>
              <a:t>→ Alternate Output Tray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743200"/>
            <a:ext cx="3291840" cy="228600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2743200"/>
            <a:ext cx="73152" cy="228600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2852928"/>
            <a:ext cx="27654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LOW CONFIDENCE /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310128"/>
            <a:ext cx="297180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OCR unclear OR confidence below threshold OR sensor mismatch</a:t>
            </a:r>
            <a:br>
              <a:rPr sz="1800"/>
            </a:br>
            <a:br>
              <a:rPr sz="1800"/>
            </a:br>
            <a:r>
              <a:rPr sz="1800"/>
              <a:t>→ Safe route</a:t>
            </a:r>
            <a:br>
              <a:rPr sz="1800"/>
            </a:br>
            <a:r>
              <a:rPr sz="1800"/>
              <a:t>→ Manual Review Tray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5EC085-E2B6-497D-65A2-02E49F07DA8B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3909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13. Complete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34440"/>
            <a:ext cx="1323593" cy="749808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Document Feeder</a:t>
            </a:r>
          </a:p>
        </p:txBody>
      </p:sp>
      <p:sp>
        <p:nvSpPr>
          <p:cNvPr id="5" name="Chevron 4"/>
          <p:cNvSpPr/>
          <p:nvPr/>
        </p:nvSpPr>
        <p:spPr>
          <a:xfrm>
            <a:off x="1616201" y="143560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44217" y="1234440"/>
            <a:ext cx="1323593" cy="749808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Camera</a:t>
            </a:r>
          </a:p>
        </p:txBody>
      </p:sp>
      <p:sp>
        <p:nvSpPr>
          <p:cNvPr id="7" name="Chevron 6"/>
          <p:cNvSpPr/>
          <p:nvPr/>
        </p:nvSpPr>
        <p:spPr>
          <a:xfrm>
            <a:off x="3086099" y="143560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14115" y="1234440"/>
            <a:ext cx="1323593" cy="749808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OCR &amp; Preprocess</a:t>
            </a:r>
          </a:p>
        </p:txBody>
      </p:sp>
      <p:sp>
        <p:nvSpPr>
          <p:cNvPr id="9" name="Chevron 8"/>
          <p:cNvSpPr/>
          <p:nvPr/>
        </p:nvSpPr>
        <p:spPr>
          <a:xfrm>
            <a:off x="4555997" y="143560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84013" y="1234440"/>
            <a:ext cx="1323593" cy="749808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SLM</a:t>
            </a:r>
          </a:p>
        </p:txBody>
      </p:sp>
      <p:sp>
        <p:nvSpPr>
          <p:cNvPr id="11" name="Chevron 10"/>
          <p:cNvSpPr/>
          <p:nvPr/>
        </p:nvSpPr>
        <p:spPr>
          <a:xfrm>
            <a:off x="6025895" y="143560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53911" y="1234440"/>
            <a:ext cx="1323593" cy="749808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Decision Engine</a:t>
            </a:r>
          </a:p>
        </p:txBody>
      </p:sp>
      <p:sp>
        <p:nvSpPr>
          <p:cNvPr id="13" name="Chevron 12"/>
          <p:cNvSpPr/>
          <p:nvPr/>
        </p:nvSpPr>
        <p:spPr>
          <a:xfrm>
            <a:off x="7495793" y="143560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23809" y="1234440"/>
            <a:ext cx="1323593" cy="749808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UART / Serial</a:t>
            </a:r>
          </a:p>
        </p:txBody>
      </p:sp>
      <p:sp>
        <p:nvSpPr>
          <p:cNvPr id="15" name="Chevron 14"/>
          <p:cNvSpPr/>
          <p:nvPr/>
        </p:nvSpPr>
        <p:spPr>
          <a:xfrm>
            <a:off x="8965691" y="143560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93707" y="1234440"/>
            <a:ext cx="1323593" cy="749808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ESP32</a:t>
            </a:r>
          </a:p>
        </p:txBody>
      </p:sp>
      <p:sp>
        <p:nvSpPr>
          <p:cNvPr id="17" name="Chevron 16"/>
          <p:cNvSpPr/>
          <p:nvPr/>
        </p:nvSpPr>
        <p:spPr>
          <a:xfrm>
            <a:off x="10435589" y="143560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63605" y="1234440"/>
            <a:ext cx="1323593" cy="749808"/>
          </a:xfrm>
          <a:prstGeom prst="roundRect">
            <a:avLst/>
          </a:prstGeom>
          <a:solidFill>
            <a:srgbClr val="EF8540"/>
          </a:solidFill>
          <a:ln>
            <a:solidFill>
              <a:srgbClr val="EF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800"/>
              <a:t>Motor Driver + Servo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88920"/>
            <a:ext cx="1266443" cy="777240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</a:rPr>
              <a:t>Input Tray</a:t>
            </a:r>
          </a:p>
        </p:txBody>
      </p:sp>
      <p:sp>
        <p:nvSpPr>
          <p:cNvPr id="20" name="Chevron 19"/>
          <p:cNvSpPr/>
          <p:nvPr/>
        </p:nvSpPr>
        <p:spPr>
          <a:xfrm>
            <a:off x="1787651" y="29900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915667" y="2788920"/>
            <a:ext cx="1266443" cy="777240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</a:rPr>
              <a:t>Entry Sensor</a:t>
            </a:r>
          </a:p>
        </p:txBody>
      </p:sp>
      <p:sp>
        <p:nvSpPr>
          <p:cNvPr id="22" name="Chevron 21"/>
          <p:cNvSpPr/>
          <p:nvPr/>
        </p:nvSpPr>
        <p:spPr>
          <a:xfrm>
            <a:off x="3200399" y="29900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328415" y="2788920"/>
            <a:ext cx="1266443" cy="777240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</a:rPr>
              <a:t>Scanning Platform</a:t>
            </a:r>
          </a:p>
        </p:txBody>
      </p:sp>
      <p:sp>
        <p:nvSpPr>
          <p:cNvPr id="24" name="Chevron 23"/>
          <p:cNvSpPr/>
          <p:nvPr/>
        </p:nvSpPr>
        <p:spPr>
          <a:xfrm>
            <a:off x="4613147" y="29900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41163" y="2788920"/>
            <a:ext cx="1266443" cy="777240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</a:rPr>
              <a:t>AI Processing Unit</a:t>
            </a:r>
          </a:p>
        </p:txBody>
      </p:sp>
      <p:sp>
        <p:nvSpPr>
          <p:cNvPr id="26" name="Chevron 25"/>
          <p:cNvSpPr/>
          <p:nvPr/>
        </p:nvSpPr>
        <p:spPr>
          <a:xfrm>
            <a:off x="6025895" y="29900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53911" y="2788920"/>
            <a:ext cx="1266443" cy="777240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>
                <a:solidFill>
                  <a:schemeClr val="tx1"/>
                </a:solidFill>
              </a:rPr>
              <a:t>Confiden</a:t>
            </a:r>
            <a:r>
              <a:rPr lang="en-IN" sz="1600">
                <a:solidFill>
                  <a:schemeClr val="tx1"/>
                </a:solidFill>
              </a:rPr>
              <a:t>ce</a:t>
            </a:r>
            <a:r>
              <a:rPr sz="1600">
                <a:solidFill>
                  <a:schemeClr val="tx1"/>
                </a:solidFill>
              </a:rPr>
              <a:t>Rules</a:t>
            </a:r>
          </a:p>
        </p:txBody>
      </p:sp>
      <p:sp>
        <p:nvSpPr>
          <p:cNvPr id="28" name="Chevron 27"/>
          <p:cNvSpPr/>
          <p:nvPr/>
        </p:nvSpPr>
        <p:spPr>
          <a:xfrm>
            <a:off x="7438643" y="29900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566659" y="2788920"/>
            <a:ext cx="1266443" cy="777240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>
                <a:solidFill>
                  <a:schemeClr val="tx1"/>
                </a:solidFill>
              </a:rPr>
              <a:t>Embedded Controller</a:t>
            </a:r>
          </a:p>
        </p:txBody>
      </p:sp>
      <p:sp>
        <p:nvSpPr>
          <p:cNvPr id="30" name="Chevron 29"/>
          <p:cNvSpPr/>
          <p:nvPr/>
        </p:nvSpPr>
        <p:spPr>
          <a:xfrm>
            <a:off x="8851391" y="29900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979407" y="2788920"/>
            <a:ext cx="1266443" cy="777240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</a:rPr>
              <a:t>Sorting Gate</a:t>
            </a:r>
          </a:p>
        </p:txBody>
      </p:sp>
      <p:sp>
        <p:nvSpPr>
          <p:cNvPr id="32" name="Chevron 31"/>
          <p:cNvSpPr/>
          <p:nvPr/>
        </p:nvSpPr>
        <p:spPr>
          <a:xfrm>
            <a:off x="10264139" y="299008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392155" y="2788920"/>
            <a:ext cx="1266443" cy="777240"/>
          </a:xfrm>
          <a:prstGeom prst="roundRect">
            <a:avLst/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</a:rPr>
              <a:t>Output Trays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262120"/>
            <a:ext cx="10789920" cy="150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High-level computing unit performs OCR and SLM inference.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ESP32 handles deterministic real-time I/O and actuator control.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Communication layer transfers only the required decision command and status signals.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Separation of intelligence and motor control keeps the design modular and easier to debug.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595092-E921-737A-7BF7-37DED848E007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1022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14. Proposed Hardware and Software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606040" cy="16459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73152" cy="164592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35607"/>
            <a:ext cx="22701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Camera / USB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92807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Document perception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325880"/>
            <a:ext cx="2606040" cy="16459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1568" y="1325880"/>
            <a:ext cx="73152" cy="164592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435607"/>
            <a:ext cx="7531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92807"/>
            <a:ext cx="228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Sensors + servo/motor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325880"/>
            <a:ext cx="2606040" cy="16459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325880"/>
            <a:ext cx="73152" cy="164592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35607"/>
            <a:ext cx="137350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Servo 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92807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Sorting gate actuation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325880"/>
            <a:ext cx="2606040" cy="16459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07424" y="1325880"/>
            <a:ext cx="73152" cy="164592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0575" y="1435607"/>
            <a:ext cx="2689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DC Geared Motor / Rollers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5" y="1892807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Document feeding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2606040" cy="16459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73152" cy="164592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493008"/>
            <a:ext cx="25057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IR / Break-beam Sensors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950208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Position confirmation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3383280"/>
            <a:ext cx="2606040" cy="16459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01568" y="3383280"/>
            <a:ext cx="73152" cy="164592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0" y="3493008"/>
            <a:ext cx="14217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Motor Driver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950208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Safe motor interface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3383280"/>
            <a:ext cx="2606040" cy="16459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54496" y="3383280"/>
            <a:ext cx="73152" cy="164592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3493008"/>
            <a:ext cx="147955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Power Supply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950208"/>
            <a:ext cx="228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Controller + actuator power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07424" y="3383280"/>
            <a:ext cx="2606040" cy="164592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07424" y="3383280"/>
            <a:ext cx="73152" cy="164592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72015" y="3493008"/>
            <a:ext cx="18059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Frame /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5" y="3950208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Physical prototype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BE3FE8-437B-319F-EFAF-2F05A86D9084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6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30200"/>
            <a:ext cx="36226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/>
              <a:t>1</a:t>
            </a:r>
            <a:r>
              <a:rPr lang="en-IN" sz="1800"/>
              <a:t>5</a:t>
            </a:r>
            <a:r>
              <a:rPr sz="1800"/>
              <a:t>. Proposed CAD Layout and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12160"/>
            <a:ext cx="1463040" cy="1097280"/>
          </a:xfrm>
          <a:prstGeom prst="round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00"/>
              <a:t>INPUT</a:t>
            </a:r>
            <a:br>
              <a:rPr sz="1800"/>
            </a:br>
            <a:r>
              <a:rPr sz="1800"/>
              <a:t>TRAY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4280" y="3312160"/>
            <a:ext cx="1463040" cy="1097280"/>
          </a:xfrm>
          <a:prstGeom prst="round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00"/>
              <a:t>ROLLER</a:t>
            </a:r>
            <a:br>
              <a:rPr sz="1800"/>
            </a:br>
            <a:r>
              <a:rPr sz="1800"/>
              <a:t>FEED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7520" y="3312160"/>
            <a:ext cx="1920240" cy="1097280"/>
          </a:xfrm>
          <a:prstGeom prst="round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00"/>
              <a:t>SCANNING</a:t>
            </a:r>
            <a:br>
              <a:rPr sz="1800"/>
            </a:br>
            <a:r>
              <a:rPr sz="1800"/>
              <a:t>ZONE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83400" y="3312160"/>
            <a:ext cx="1463040" cy="1097280"/>
          </a:xfrm>
          <a:prstGeom prst="round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00"/>
              <a:t>SERVO</a:t>
            </a:r>
            <a:br>
              <a:rPr sz="1800"/>
            </a:br>
            <a:r>
              <a:rPr sz="1800"/>
              <a:t>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79840" y="3312160"/>
            <a:ext cx="1645920" cy="1005840"/>
          </a:xfrm>
          <a:prstGeom prst="round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00"/>
              <a:t>ACCEPT</a:t>
            </a:r>
            <a:br>
              <a:rPr sz="1800"/>
            </a:br>
            <a:r>
              <a:rPr sz="1800"/>
              <a:t>TRAY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91600" y="5039360"/>
            <a:ext cx="1645920" cy="1005840"/>
          </a:xfrm>
          <a:prstGeom prst="round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00"/>
              <a:t>REVIEW</a:t>
            </a:r>
            <a:br>
              <a:rPr sz="1800"/>
            </a:br>
            <a:r>
              <a:rPr sz="1800"/>
              <a:t>TRAY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4734560" y="2250440"/>
            <a:ext cx="822960" cy="640080"/>
          </a:xfrm>
          <a:prstGeom prst="triangle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5500" y="1717040"/>
            <a:ext cx="102171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rPr sz="1800"/>
              <a:t>CAMERA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A6AE8-5199-3394-E213-72A365697DC4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5713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 dirty="0"/>
              <a:t>1</a:t>
            </a:r>
            <a:r>
              <a:rPr lang="en-IN" sz="1800" dirty="0"/>
              <a:t>6</a:t>
            </a:r>
            <a:r>
              <a:rPr sz="1800" dirty="0"/>
              <a:t>. Implementation Plan from Current Stage to Final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25880"/>
            <a:ext cx="1527048" cy="96012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Phase 1</a:t>
            </a:r>
            <a:br>
              <a:rPr sz="1800"/>
            </a:br>
            <a:r>
              <a:rPr sz="1800"/>
              <a:t>Dataset + Problem</a:t>
            </a:r>
          </a:p>
        </p:txBody>
      </p:sp>
      <p:sp>
        <p:nvSpPr>
          <p:cNvPr id="5" name="Chevron 4"/>
          <p:cNvSpPr/>
          <p:nvPr/>
        </p:nvSpPr>
        <p:spPr>
          <a:xfrm>
            <a:off x="1865376" y="1527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993392" y="1325880"/>
            <a:ext cx="1527048" cy="96012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Phase 2</a:t>
            </a:r>
            <a:br>
              <a:rPr sz="1800"/>
            </a:br>
            <a:r>
              <a:rPr sz="1800"/>
              <a:t>OCR Pipeline</a:t>
            </a:r>
          </a:p>
        </p:txBody>
      </p:sp>
      <p:sp>
        <p:nvSpPr>
          <p:cNvPr id="7" name="Chevron 6"/>
          <p:cNvSpPr/>
          <p:nvPr/>
        </p:nvSpPr>
        <p:spPr>
          <a:xfrm>
            <a:off x="3538728" y="1527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66744" y="1325880"/>
            <a:ext cx="1527048" cy="960120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Phase 3</a:t>
            </a:r>
            <a:br>
              <a:rPr sz="1800"/>
            </a:br>
            <a:r>
              <a:rPr sz="1800"/>
              <a:t>SLM Training</a:t>
            </a:r>
          </a:p>
        </p:txBody>
      </p:sp>
      <p:sp>
        <p:nvSpPr>
          <p:cNvPr id="9" name="Chevron 8"/>
          <p:cNvSpPr/>
          <p:nvPr/>
        </p:nvSpPr>
        <p:spPr>
          <a:xfrm>
            <a:off x="5212079" y="1527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40096" y="1325880"/>
            <a:ext cx="1527048" cy="960120"/>
          </a:xfrm>
          <a:prstGeom prst="roundRect">
            <a:avLst/>
          </a:prstGeom>
          <a:solidFill>
            <a:srgbClr val="EF8540"/>
          </a:solidFill>
          <a:ln>
            <a:solidFill>
              <a:srgbClr val="EF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Phase 4</a:t>
            </a:r>
            <a:br>
              <a:rPr sz="1800"/>
            </a:br>
            <a:r>
              <a:rPr sz="1800"/>
              <a:t>Decision Engine</a:t>
            </a:r>
          </a:p>
        </p:txBody>
      </p:sp>
      <p:sp>
        <p:nvSpPr>
          <p:cNvPr id="11" name="Chevron 10"/>
          <p:cNvSpPr/>
          <p:nvPr/>
        </p:nvSpPr>
        <p:spPr>
          <a:xfrm>
            <a:off x="6885431" y="1527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13448" y="1325880"/>
            <a:ext cx="1527048" cy="96012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Phase 5</a:t>
            </a:r>
            <a:br>
              <a:rPr sz="1800"/>
            </a:br>
            <a:r>
              <a:rPr sz="1800"/>
              <a:t>CAD Prototype</a:t>
            </a:r>
          </a:p>
        </p:txBody>
      </p:sp>
      <p:sp>
        <p:nvSpPr>
          <p:cNvPr id="13" name="Chevron 12"/>
          <p:cNvSpPr/>
          <p:nvPr/>
        </p:nvSpPr>
        <p:spPr>
          <a:xfrm>
            <a:off x="8558784" y="1527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0" y="1325880"/>
            <a:ext cx="1527048" cy="96012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Phase 6</a:t>
            </a:r>
            <a:br>
              <a:rPr sz="1800"/>
            </a:br>
            <a:r>
              <a:rPr sz="1800"/>
              <a:t>Hardware Build</a:t>
            </a:r>
          </a:p>
        </p:txBody>
      </p:sp>
      <p:sp>
        <p:nvSpPr>
          <p:cNvPr id="15" name="Chevron 14"/>
          <p:cNvSpPr/>
          <p:nvPr/>
        </p:nvSpPr>
        <p:spPr>
          <a:xfrm>
            <a:off x="10232136" y="152704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360152" y="1325880"/>
            <a:ext cx="1527048" cy="960120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800"/>
              <a:t>Phase 7</a:t>
            </a:r>
            <a:br>
              <a:rPr sz="1800"/>
            </a:br>
            <a:r>
              <a:rPr sz="1800"/>
              <a:t>Integration +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80360"/>
            <a:ext cx="10698480" cy="2163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Phase 1: Finalize domain, classes, input formats and evaluation criteria.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Phase 2–3: Build OCR baseline and benchmark compact language models.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Phase 4: Implement confidence thresholding and safe fallback rules.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Phase 5–6: Complete CAD assembly, procure components and fabricate prototype.</a:t>
            </a:r>
          </a:p>
          <a:p>
            <a:pPr>
              <a:spcAft>
                <a:spcPts val="800"/>
              </a:spcAft>
              <a:defRPr sz="1600">
                <a:solidFill>
                  <a:srgbClr val="283038"/>
                </a:solidFill>
              </a:defRPr>
            </a:pPr>
            <a:r>
              <a:rPr sz="1800"/>
              <a:t>• Phase 7: Connect AI decision output to ESP32, actuators and sensor feedback; evaluate end-to-end accuracy and physical reliability.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3DC082-E165-85A0-1C6C-3C1E8B8DCDBF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6084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 dirty="0"/>
              <a:t>1</a:t>
            </a:r>
            <a:r>
              <a:rPr lang="en-IN" sz="1800" dirty="0"/>
              <a:t>7</a:t>
            </a:r>
            <a:r>
              <a:rPr sz="1800" dirty="0"/>
              <a:t>. Evaluation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606040" cy="411480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11480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5873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92807"/>
            <a:ext cx="2286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Character/word extraction quality</a:t>
            </a:r>
            <a:br>
              <a:rPr sz="1800"/>
            </a:br>
            <a:r>
              <a:rPr sz="1800"/>
              <a:t>Format robustness</a:t>
            </a:r>
            <a:br>
              <a:rPr sz="1800"/>
            </a:br>
            <a:r>
              <a:rPr sz="1800"/>
              <a:t>Processing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25880"/>
            <a:ext cx="2606040" cy="411480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0440" y="1325880"/>
            <a:ext cx="73152" cy="411480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1435607"/>
            <a:ext cx="5873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SLM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1892807"/>
            <a:ext cx="22860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Classification accuracy</a:t>
            </a:r>
            <a:br>
              <a:rPr sz="1800"/>
            </a:br>
            <a:r>
              <a:rPr sz="1800"/>
              <a:t>Precision / Recall / F1</a:t>
            </a:r>
            <a:br>
              <a:rPr sz="1800"/>
            </a:br>
            <a:r>
              <a:rPr sz="1800"/>
              <a:t>Inference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2606040" cy="411480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73152" cy="411480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435607"/>
            <a:ext cx="99885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Robotics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892807"/>
            <a:ext cx="2286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Successful routing rate</a:t>
            </a:r>
            <a:br>
              <a:rPr sz="1800"/>
            </a:br>
            <a:r>
              <a:rPr sz="1800"/>
              <a:t>Actuation time</a:t>
            </a:r>
            <a:br>
              <a:rPr sz="1800"/>
            </a:br>
            <a:r>
              <a:rPr sz="1800"/>
              <a:t>Sensor synchronization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325880"/>
            <a:ext cx="2240280" cy="411480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81160" y="1325880"/>
            <a:ext cx="73152" cy="411480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45752" y="1435607"/>
            <a:ext cx="123634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End-to-End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1892807"/>
            <a:ext cx="192024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Correct final tray</a:t>
            </a:r>
            <a:br>
              <a:rPr sz="1800"/>
            </a:br>
            <a:r>
              <a:rPr sz="1800"/>
              <a:t>Manual-review safety</a:t>
            </a:r>
            <a:br>
              <a:rPr sz="1800"/>
            </a:br>
            <a:r>
              <a:rPr sz="1800"/>
              <a:t>Failure recovery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51429A-07A3-B371-99F1-11A950C9358E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833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223A"/>
                </a:solidFill>
              </a:defRPr>
            </a:pPr>
            <a:r>
              <a:rPr sz="1800" dirty="0"/>
              <a:t>1</a:t>
            </a:r>
            <a:r>
              <a:rPr lang="en-IN" sz="1800" dirty="0"/>
              <a:t>8</a:t>
            </a:r>
            <a:r>
              <a:rPr sz="1800" dirty="0"/>
              <a:t>. Expected Outcome and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75120" cy="365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lang="en-US" sz="1800"/>
              <a:t>• A proposed proof-of-concept design demonstrating that document intelligence can trigger a reliable physical response.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lang="en-US" sz="1800"/>
              <a:t>• Lightweight domain-adapted NLP suitable for constrained deployment.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lang="en-US" sz="1800"/>
              <a:t>• Multiformat document handling through OCR normalization.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lang="en-US" sz="1800"/>
              <a:t>• Confidence-aware human-in-the-loop intervention for uncertain cases.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lang="en-US" sz="1800"/>
              <a:t>• Clear robotics contribution through sensing, actuation, embedded control and physical routing.</a:t>
            </a:r>
          </a:p>
          <a:p>
            <a:pPr>
              <a:spcAft>
                <a:spcPts val="800"/>
              </a:spcAft>
              <a:defRPr sz="1700">
                <a:solidFill>
                  <a:srgbClr val="283038"/>
                </a:solidFill>
              </a:defRPr>
            </a:pPr>
            <a:r>
              <a:rPr lang="en-US" sz="1800"/>
              <a:t>• A modular architecture that can later support additional categories, sensors and robotic mechanisms.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7726679" y="1463040"/>
            <a:ext cx="3566160" cy="40233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26679" y="1463040"/>
            <a:ext cx="73152" cy="402336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91271" y="1574800"/>
            <a:ext cx="3150221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E223A"/>
                </a:solidFill>
              </a:defRPr>
            </a:pPr>
            <a:r>
              <a:rPr lang="en-IN" sz="1600" b="1"/>
              <a:t>Final Demonstration (planned)</a:t>
            </a:r>
            <a:endParaRPr sz="1600" b="1"/>
          </a:p>
        </p:txBody>
      </p:sp>
      <p:sp>
        <p:nvSpPr>
          <p:cNvPr id="8" name="TextBox 7"/>
          <p:cNvSpPr txBox="1"/>
          <p:nvPr/>
        </p:nvSpPr>
        <p:spPr>
          <a:xfrm>
            <a:off x="7891780" y="2006600"/>
            <a:ext cx="342519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83038"/>
                </a:solidFill>
              </a:defRPr>
            </a:pPr>
            <a:r>
              <a:rPr lang="en-IN" sz="1500"/>
              <a:t>1. Insert document</a:t>
            </a:r>
          </a:p>
          <a:p>
            <a:pPr>
              <a:spcAft>
                <a:spcPts val="900"/>
              </a:spcAft>
              <a:defRPr sz="1200">
                <a:solidFill>
                  <a:srgbClr val="283038"/>
                </a:solidFill>
              </a:defRPr>
            </a:pPr>
            <a:r>
              <a:rPr lang="en-IN" sz="1500"/>
              <a:t>2. Sensor detects entry</a:t>
            </a:r>
          </a:p>
          <a:p>
            <a:pPr>
              <a:spcAft>
                <a:spcPts val="900"/>
              </a:spcAft>
              <a:defRPr sz="1200">
                <a:solidFill>
                  <a:srgbClr val="283038"/>
                </a:solidFill>
              </a:defRPr>
            </a:pPr>
            <a:r>
              <a:rPr lang="en-IN" sz="1500"/>
              <a:t>3. Camera captures page</a:t>
            </a:r>
          </a:p>
          <a:p>
            <a:pPr>
              <a:spcAft>
                <a:spcPts val="900"/>
              </a:spcAft>
              <a:defRPr sz="1200">
                <a:solidFill>
                  <a:srgbClr val="283038"/>
                </a:solidFill>
              </a:defRPr>
            </a:pPr>
            <a:r>
              <a:rPr lang="en-IN" sz="1500"/>
              <a:t>4. OCR + SLM analyze</a:t>
            </a:r>
          </a:p>
          <a:p>
            <a:pPr>
              <a:spcAft>
                <a:spcPts val="900"/>
              </a:spcAft>
              <a:defRPr sz="1200">
                <a:solidFill>
                  <a:srgbClr val="283038"/>
                </a:solidFill>
              </a:defRPr>
            </a:pPr>
            <a:r>
              <a:rPr lang="en-IN" sz="1500"/>
              <a:t>5. Decision generated</a:t>
            </a:r>
          </a:p>
          <a:p>
            <a:pPr>
              <a:spcAft>
                <a:spcPts val="900"/>
              </a:spcAft>
              <a:defRPr sz="1200">
                <a:solidFill>
                  <a:srgbClr val="283038"/>
                </a:solidFill>
              </a:defRPr>
            </a:pPr>
            <a:r>
              <a:rPr lang="en-IN" sz="1500"/>
              <a:t>6. Servo routes document</a:t>
            </a:r>
          </a:p>
          <a:p>
            <a:pPr>
              <a:spcAft>
                <a:spcPts val="900"/>
              </a:spcAft>
              <a:defRPr sz="1200">
                <a:solidFill>
                  <a:srgbClr val="283038"/>
                </a:solidFill>
              </a:defRPr>
            </a:pPr>
            <a:r>
              <a:rPr lang="en-IN" sz="1500"/>
              <a:t>7. Output tray verifies result</a:t>
            </a:r>
            <a:endParaRPr sz="1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67DD46-E2A8-00A8-89EB-59661CCE8309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8260" y="320040"/>
            <a:ext cx="18133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E223A"/>
                </a:solidFill>
              </a:defRPr>
            </a:pPr>
            <a:r>
              <a:rPr lang="en-IN" sz="1800" dirty="0"/>
              <a:t>  19</a:t>
            </a:r>
            <a:r>
              <a:rPr sz="1800" dirty="0"/>
              <a:t>. 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128016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344168"/>
            <a:ext cx="15728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Input /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01368"/>
            <a:ext cx="3200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Document → OCR/SLM decision → digital label + physical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2344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61688" y="1234440"/>
            <a:ext cx="73152" cy="128016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1834" y="1231773"/>
            <a:ext cx="12814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SLM vs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592453"/>
            <a:ext cx="3200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Narrow domain, lower latency, lower compute, easier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456" y="12344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0456" y="1234440"/>
            <a:ext cx="73152" cy="128016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1344168"/>
            <a:ext cx="9112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01368"/>
            <a:ext cx="3200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Domain documents + permitted public data + labeled classes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346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834640"/>
            <a:ext cx="73152" cy="128016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7672" y="2854198"/>
            <a:ext cx="7994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192653"/>
            <a:ext cx="3200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Benchmark compact candidates; choose based on accuracy/latency/memory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28346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61688" y="2834640"/>
            <a:ext cx="73152" cy="128016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79" y="2944368"/>
            <a:ext cx="5873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401568"/>
            <a:ext cx="3200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Format-aware preprocessing → OCR → normalized 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28346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0456" y="2834640"/>
            <a:ext cx="73152" cy="128016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6158" y="2830068"/>
            <a:ext cx="17551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Classify / Cluster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6158" y="3198368"/>
            <a:ext cx="3200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Classification for routing; clustering optional for exploration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348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434840"/>
            <a:ext cx="73152" cy="1280160"/>
          </a:xfrm>
          <a:prstGeom prst="rect">
            <a:avLst/>
          </a:prstGeom>
          <a:solidFill>
            <a:srgbClr val="24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7832" y="4502658"/>
            <a:ext cx="103060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Use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622" y="4792853"/>
            <a:ext cx="3200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Automated document understanding and physical sorting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1688" y="44348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61688" y="4434840"/>
            <a:ext cx="73152" cy="1280160"/>
          </a:xfrm>
          <a:prstGeom prst="rect">
            <a:avLst/>
          </a:prstGeom>
          <a:solidFill>
            <a:srgbClr val="20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79" y="4434713"/>
            <a:ext cx="919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Novelty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1834" y="4792853"/>
            <a:ext cx="3200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Closed-loop AI → confidence decision → sensor/actuator response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0456" y="4434840"/>
            <a:ext cx="3520440" cy="1280160"/>
          </a:xfrm>
          <a:prstGeom prst="roundRect">
            <a:avLst/>
          </a:prstGeom>
          <a:solidFill>
            <a:srgbClr val="F1F6FA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0456" y="4434840"/>
            <a:ext cx="73152" cy="1280160"/>
          </a:xfrm>
          <a:prstGeom prst="rect">
            <a:avLst/>
          </a:prstGeom>
          <a:solidFill>
            <a:srgbClr val="E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85048" y="4544568"/>
            <a:ext cx="99885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223A"/>
                </a:solidFill>
              </a:defRPr>
            </a:pPr>
            <a:r>
              <a:rPr sz="1800"/>
              <a:t>Robotics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5001768"/>
            <a:ext cx="32004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</a:defRPr>
            </a:pPr>
            <a:r>
              <a:rPr sz="1800"/>
              <a:t>Sensors + feeder + controller + servo gate + verification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C63E16-7995-2C74-085F-9C52529E6D02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700" y="1645920"/>
            <a:ext cx="11878945" cy="23082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DCEBF5"/>
                </a:solidFill>
              </a:defRPr>
            </a:pPr>
            <a:r>
              <a:rPr lang="en-US" sz="1700"/>
              <a:t>Our project combines an implemented NLP pipeline with a proposed robotic sorting architecture.</a:t>
            </a:r>
          </a:p>
          <a:p>
            <a:pPr>
              <a:spcAft>
                <a:spcPts val="400"/>
              </a:spcAft>
              <a:defRPr sz="2200">
                <a:solidFill>
                  <a:srgbClr val="DCEBF5"/>
                </a:solidFill>
              </a:defRPr>
            </a:pPr>
            <a:endParaRPr lang="en-US" sz="1700"/>
          </a:p>
          <a:p>
            <a:pPr>
              <a:spcAft>
                <a:spcPts val="400"/>
              </a:spcAft>
              <a:defRPr sz="2200">
                <a:solidFill>
                  <a:srgbClr val="DCEBF5"/>
                </a:solidFill>
              </a:defRPr>
            </a:pPr>
            <a:r>
              <a:rPr lang="en-US" sz="1700"/>
              <a:t>IMPLEMENTED: OCR, evidence-grounded SLM selection, validation and searchable PDF output.</a:t>
            </a:r>
          </a:p>
          <a:p>
            <a:pPr>
              <a:spcAft>
                <a:spcPts val="400"/>
              </a:spcAft>
              <a:defRPr sz="2200">
                <a:solidFill>
                  <a:srgbClr val="DCEBF5"/>
                </a:solidFill>
              </a:defRPr>
            </a:pPr>
            <a:endParaRPr lang="en-US" sz="1700"/>
          </a:p>
          <a:p>
            <a:pPr>
              <a:spcAft>
                <a:spcPts val="400"/>
              </a:spcAft>
              <a:defRPr sz="2200">
                <a:solidFill>
                  <a:srgbClr val="DCEBF5"/>
                </a:solidFill>
              </a:defRPr>
            </a:pPr>
            <a:r>
              <a:rPr lang="en-US" sz="1700"/>
              <a:t>PROPOSED: sensors, controller and actuators that convert the software decision into a physical action after hardware testing.</a:t>
            </a:r>
            <a:endParaRPr sz="1700"/>
          </a:p>
        </p:txBody>
      </p:sp>
      <p:sp>
        <p:nvSpPr>
          <p:cNvPr id="4" name="Rounded Rectangle 3"/>
          <p:cNvSpPr/>
          <p:nvPr/>
        </p:nvSpPr>
        <p:spPr>
          <a:xfrm>
            <a:off x="960120" y="5166360"/>
            <a:ext cx="1912924" cy="77724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PERCEIVE</a:t>
            </a:r>
          </a:p>
        </p:txBody>
      </p:sp>
      <p:sp>
        <p:nvSpPr>
          <p:cNvPr id="5" name="Chevron 4"/>
          <p:cNvSpPr/>
          <p:nvPr/>
        </p:nvSpPr>
        <p:spPr>
          <a:xfrm>
            <a:off x="2891332" y="53675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9348" y="5166360"/>
            <a:ext cx="1912924" cy="777240"/>
          </a:xfrm>
          <a:prstGeom prst="roundRect">
            <a:avLst/>
          </a:prstGeom>
          <a:solidFill>
            <a:srgbClr val="2470B2"/>
          </a:solidFill>
          <a:ln>
            <a:solidFill>
              <a:srgbClr val="24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7" name="Chevron 6"/>
          <p:cNvSpPr/>
          <p:nvPr/>
        </p:nvSpPr>
        <p:spPr>
          <a:xfrm>
            <a:off x="4950561" y="53675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78577" y="5166360"/>
            <a:ext cx="1912924" cy="777240"/>
          </a:xfrm>
          <a:prstGeom prst="roundRect">
            <a:avLst/>
          </a:prstGeom>
          <a:solidFill>
            <a:srgbClr val="0E223A"/>
          </a:solidFill>
          <a:ln>
            <a:solidFill>
              <a:srgbClr val="0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DECIDE</a:t>
            </a:r>
          </a:p>
        </p:txBody>
      </p:sp>
      <p:sp>
        <p:nvSpPr>
          <p:cNvPr id="9" name="Chevron 8"/>
          <p:cNvSpPr/>
          <p:nvPr/>
        </p:nvSpPr>
        <p:spPr>
          <a:xfrm>
            <a:off x="7009790" y="53675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7806" y="5166360"/>
            <a:ext cx="1912924" cy="777240"/>
          </a:xfrm>
          <a:prstGeom prst="roundRect">
            <a:avLst/>
          </a:prstGeom>
          <a:solidFill>
            <a:srgbClr val="EF8540"/>
          </a:solidFill>
          <a:ln>
            <a:solidFill>
              <a:srgbClr val="EF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ACT</a:t>
            </a:r>
          </a:p>
        </p:txBody>
      </p:sp>
      <p:sp>
        <p:nvSpPr>
          <p:cNvPr id="11" name="Chevron 10"/>
          <p:cNvSpPr/>
          <p:nvPr/>
        </p:nvSpPr>
        <p:spPr>
          <a:xfrm>
            <a:off x="9069019" y="5367528"/>
            <a:ext cx="109728" cy="411480"/>
          </a:xfrm>
          <a:prstGeom prst="chevron">
            <a:avLst/>
          </a:prstGeom>
          <a:solidFill>
            <a:srgbClr val="66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97035" y="5166360"/>
            <a:ext cx="1912924" cy="777240"/>
          </a:xfrm>
          <a:prstGeom prst="roundRect">
            <a:avLst/>
          </a:prstGeom>
          <a:solidFill>
            <a:srgbClr val="20998B"/>
          </a:solidFill>
          <a:ln>
            <a:solidFill>
              <a:srgbClr val="20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Thank You | Questions &amp; Discussion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E95288-5607-056B-A632-D3E43FAA1861}"/>
              </a:ext>
            </a:extLst>
          </p:cNvPr>
          <p:cNvSpPr txBox="1"/>
          <p:nvPr/>
        </p:nvSpPr>
        <p:spPr>
          <a:xfrm>
            <a:off x="9448800" y="6540500"/>
            <a:ext cx="2260600" cy="1000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650" b="1">
                <a:solidFill>
                  <a:srgbClr val="1F7469"/>
                </a:solidFill>
                <a:latin typeface="Tahoma" panose="020B0604030504040204" pitchFamily="34" charset="0"/>
              </a:rPr>
              <a:t>PROPOSED PHYSICAL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3826</Words>
  <Application>Microsoft Office PowerPoint</Application>
  <PresentationFormat>Widescreen</PresentationFormat>
  <Paragraphs>693</Paragraphs>
  <Slides>45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Calibri</vt:lpstr>
      <vt:lpstr>Courier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Document Quality Evaluation System</dc:title>
  <dc:creator/>
  <cp:lastModifiedBy>Aravind  Raghuram</cp:lastModifiedBy>
  <cp:revision>5</cp:revision>
  <dcterms:created xsi:type="dcterms:W3CDTF">2026-09-14T05:56:34Z</dcterms:created>
  <dcterms:modified xsi:type="dcterms:W3CDTF">2026-09-14T13:38:58Z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2026-09-13T05:30:00Z</vt:filetime>
  </property>
  <property fmtid="{D5CDD505-2E9C-101B-9397-08002B2CF9AE}" pid="4" name="Creator">
    <vt:lpwstr>Google</vt:lpwstr>
  </property>
  <property fmtid="{D5CDD505-2E9C-101B-9397-08002B2CF9AE}" pid="5" name="LastSaved">
    <vt:filetime>2026-09-13T05:30:00Z</vt:filetime>
  </property>
  <property fmtid="{D5CDD505-2E9C-101B-9397-08002B2CF9AE}" pid="6" name="KSOProductBuildVer">
    <vt:lpwstr>1033-12.1.0.28032</vt:lpwstr>
  </property>
  <property fmtid="{D5CDD505-2E9C-101B-9397-08002B2CF9AE}" pid="7" name="ICV">
    <vt:lpwstr>4CF63D101C084BF08A98868E646B384A_13</vt:lpwstr>
  </property>
</Properties>
</file>